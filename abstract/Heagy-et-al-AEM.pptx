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358" r:id="rId3"/>
    <p:sldId id="371" r:id="rId4"/>
    <p:sldId id="373" r:id="rId5"/>
    <p:sldId id="365" r:id="rId6"/>
    <p:sldId id="375" r:id="rId7"/>
    <p:sldId id="366" r:id="rId8"/>
    <p:sldId id="367" r:id="rId9"/>
    <p:sldId id="370" r:id="rId10"/>
    <p:sldId id="400" r:id="rId11"/>
    <p:sldId id="369" r:id="rId12"/>
    <p:sldId id="376" r:id="rId13"/>
    <p:sldId id="380" r:id="rId14"/>
    <p:sldId id="368" r:id="rId15"/>
    <p:sldId id="390" r:id="rId16"/>
    <p:sldId id="393" r:id="rId17"/>
    <p:sldId id="392" r:id="rId18"/>
    <p:sldId id="391" r:id="rId19"/>
    <p:sldId id="385" r:id="rId20"/>
    <p:sldId id="378" r:id="rId21"/>
    <p:sldId id="394" r:id="rId22"/>
    <p:sldId id="395" r:id="rId23"/>
    <p:sldId id="396" r:id="rId24"/>
    <p:sldId id="397" r:id="rId25"/>
    <p:sldId id="398" r:id="rId26"/>
    <p:sldId id="399" r:id="rId27"/>
    <p:sldId id="401" r:id="rId28"/>
    <p:sldId id="379" r:id="rId29"/>
    <p:sldId id="402" r:id="rId30"/>
    <p:sldId id="403" r:id="rId31"/>
    <p:sldId id="356" r:id="rId32"/>
  </p:sldIdLst>
  <p:sldSz cx="9144000" cy="5143500" type="screen16x9"/>
  <p:notesSz cx="6858000" cy="9144000"/>
  <p:embeddedFontLst>
    <p:embeddedFont>
      <p:font typeface="Avenir" panose="02000503020000020003" pitchFamily="2" charset="0"/>
      <p:regular r:id="rId34"/>
      <p:italic r:id="rId35"/>
    </p:embeddedFont>
    <p:embeddedFont>
      <p:font typeface="Consolas" panose="020B0609020204030204" pitchFamily="49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74"/>
    <p:restoredTop sz="92775"/>
  </p:normalViewPr>
  <p:slideViewPr>
    <p:cSldViewPr snapToGrid="0">
      <p:cViewPr>
        <p:scale>
          <a:sx n="89" d="100"/>
          <a:sy n="89" d="100"/>
        </p:scale>
        <p:origin x="872" y="11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2BB12-7093-A6CC-F7F4-9BDFF99A8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D440A-2B4E-7C7B-AF7A-43DEA4AF0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8E5D3-CD36-3D15-6AB0-F0F7E2C78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593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F47E2-5558-976B-E0E3-598788FDB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16BC5A-12B2-7971-643A-2AFB6F926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0C084-EDEA-953A-AC94-EAE54EA80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606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06889-1FA4-3CB1-139D-2CA1F3B0A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41EC5-23C9-C171-FD3D-ABC24F89E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DA1FB-7D38-24FA-228F-36C4454C9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047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50201-D354-404B-4F6A-5D1585AED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5EB9B0-DB63-FAE8-BAA6-722987328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BDDF8-C103-44F3-CB86-4CF94FA45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138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DEF41-EE4A-7575-1FE5-229162A0A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5EBBD-4571-D25C-D163-7EACB4044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66560-FD80-AF51-3D37-59D381400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450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234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904075"/>
            <a:ext cx="8520600" cy="36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 sz="2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904075"/>
            <a:ext cx="8520600" cy="3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jpe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hyperlink" Target="https://simpeg.xyz/" TargetMode="External"/><Relationship Id="rId4" Type="http://schemas.openxmlformats.org/officeDocument/2006/relationships/hyperlink" Target="mailto:lheagy@eoas.ubc.ca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mpeg/inversion-design-ideas/tree/main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41902" y="519150"/>
            <a:ext cx="7660196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CA" sz="2400" dirty="0"/>
              <a:t>3D hybrid-parametric inversion of AEM data accelerated by tiling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800736" y="2962603"/>
            <a:ext cx="5788783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15000"/>
              </a:lnSpc>
            </a:pPr>
            <a:r>
              <a:rPr lang="en-CA" sz="1400" dirty="0"/>
              <a:t>Lindsey J. Heagy</a:t>
            </a:r>
            <a:r>
              <a:rPr lang="en-CA" sz="1400" baseline="30000" dirty="0"/>
              <a:t>1</a:t>
            </a:r>
            <a:r>
              <a:rPr lang="en-CA" sz="1400" dirty="0"/>
              <a:t>, Joseph Capriotti</a:t>
            </a:r>
            <a:r>
              <a:rPr lang="en-CA" sz="1400" baseline="30000" dirty="0"/>
              <a:t>2</a:t>
            </a:r>
            <a:r>
              <a:rPr lang="en-CA" sz="1400" dirty="0"/>
              <a:t>, </a:t>
            </a:r>
            <a:r>
              <a:rPr lang="en-CA" sz="1400" dirty="0" err="1"/>
              <a:t>Seogi</a:t>
            </a:r>
            <a:r>
              <a:rPr lang="en-CA" sz="1400" dirty="0"/>
              <a:t> Kang</a:t>
            </a:r>
            <a:r>
              <a:rPr lang="en-CA" sz="1400" baseline="30000" dirty="0"/>
              <a:t>3</a:t>
            </a:r>
            <a:r>
              <a:rPr lang="en-CA" sz="1400" dirty="0"/>
              <a:t>, Dominique Fournier</a:t>
            </a:r>
            <a:r>
              <a:rPr lang="en-CA" sz="1400" baseline="30000" dirty="0"/>
              <a:t>4</a:t>
            </a:r>
            <a:r>
              <a:rPr lang="en-CA" sz="1400" dirty="0"/>
              <a:t>, John Weis</a:t>
            </a:r>
            <a:r>
              <a:rPr lang="en-CA" sz="1400" baseline="30000" dirty="0"/>
              <a:t>1</a:t>
            </a:r>
            <a:r>
              <a:rPr lang="en-CA" sz="1400" dirty="0"/>
              <a:t>, Johnathan Kuttai</a:t>
            </a:r>
            <a:r>
              <a:rPr lang="en-CA" sz="1400" baseline="30000" dirty="0"/>
              <a:t>1</a:t>
            </a:r>
            <a:r>
              <a:rPr lang="en-CA" sz="1400" dirty="0"/>
              <a:t>, Devin Cowan</a:t>
            </a:r>
            <a:r>
              <a:rPr lang="en-CA" sz="1400" baseline="30000" dirty="0"/>
              <a:t>1</a:t>
            </a:r>
            <a:r>
              <a:rPr lang="en-CA" sz="1400" dirty="0"/>
              <a:t>, Santiago R. Soler</a:t>
            </a:r>
            <a:r>
              <a:rPr lang="en-CA" sz="1400" baseline="30000" dirty="0"/>
              <a:t>1</a:t>
            </a:r>
            <a:endParaRPr lang="en-CA" sz="1400" dirty="0"/>
          </a:p>
          <a:p>
            <a:pPr marL="0" lvl="0" indent="0" algn="l">
              <a:lnSpc>
                <a:spcPct val="115000"/>
              </a:lnSpc>
            </a:pPr>
            <a:endParaRPr lang="en-CA" sz="1600" dirty="0"/>
          </a:p>
          <a:p>
            <a:pPr marL="0" lvl="0" indent="0" algn="l">
              <a:lnSpc>
                <a:spcPct val="115000"/>
              </a:lnSpc>
            </a:pPr>
            <a:r>
              <a:rPr lang="en-CA" sz="1200" baseline="30000" dirty="0"/>
              <a:t>1 </a:t>
            </a:r>
            <a:r>
              <a:rPr lang="en-GB" sz="1200" dirty="0"/>
              <a:t>University of British Columbia - Geophysical Inversion Facility</a:t>
            </a:r>
          </a:p>
          <a:p>
            <a:pPr marL="0" indent="0" algn="l">
              <a:lnSpc>
                <a:spcPct val="115000"/>
              </a:lnSpc>
            </a:pPr>
            <a:r>
              <a:rPr lang="en-CA" sz="1200" baseline="30000" dirty="0"/>
              <a:t>2 </a:t>
            </a:r>
            <a:r>
              <a:rPr lang="en-CA" sz="1200" dirty="0"/>
              <a:t>Colorado School of Mines</a:t>
            </a:r>
          </a:p>
          <a:p>
            <a:pPr marL="0" indent="0" algn="l">
              <a:lnSpc>
                <a:spcPct val="115000"/>
              </a:lnSpc>
            </a:pPr>
            <a:r>
              <a:rPr lang="en-CA" sz="1200" baseline="30000" dirty="0"/>
              <a:t>3 </a:t>
            </a:r>
            <a:r>
              <a:rPr lang="en-CA" sz="1200" dirty="0"/>
              <a:t>University of Manitoba</a:t>
            </a:r>
          </a:p>
          <a:p>
            <a:pPr marL="0" indent="0" algn="l">
              <a:lnSpc>
                <a:spcPct val="115000"/>
              </a:lnSpc>
            </a:pPr>
            <a:r>
              <a:rPr lang="en-CA" sz="1200" baseline="30000" dirty="0"/>
              <a:t>4 </a:t>
            </a:r>
            <a:r>
              <a:rPr lang="en-CA" sz="1200" dirty="0"/>
              <a:t>Mira Geoscience</a:t>
            </a:r>
          </a:p>
          <a:p>
            <a:pPr marL="0" lvl="0" indent="0" algn="l">
              <a:lnSpc>
                <a:spcPct val="115000"/>
              </a:lnSpc>
            </a:pPr>
            <a:endParaRPr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E6F954-DB79-BF78-AC0F-E190867D4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476" y="219315"/>
            <a:ext cx="1326687" cy="788075"/>
          </a:xfrm>
          <a:prstGeom prst="rect">
            <a:avLst/>
          </a:prstGeom>
        </p:spPr>
      </p:pic>
      <p:pic>
        <p:nvPicPr>
          <p:cNvPr id="7" name="Picture 6" descr="SimPEG — SimPEG 0.20.0.post2 documentation">
            <a:extLst>
              <a:ext uri="{FF2B5EF4-FFF2-40B4-BE49-F238E27FC236}">
                <a16:creationId xmlns:a16="http://schemas.microsoft.com/office/drawing/2014/main" id="{0B53D8EC-C3C7-B7A5-62AD-BB8A22AAF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81" y="113996"/>
            <a:ext cx="2774197" cy="9987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4A8B5-2169-F22E-FCF4-CB735F9C8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E2445-4CC4-15C2-1888-BAED95D8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3D?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ABF49-986A-F189-28FF-7BE0EA91B2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C83E4D-07EE-0BA1-C284-46DAE13AB1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-928"/>
          <a:stretch>
            <a:fillRect/>
          </a:stretch>
        </p:blipFill>
        <p:spPr>
          <a:xfrm>
            <a:off x="581640" y="798266"/>
            <a:ext cx="7980719" cy="4137951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6C04D43-E536-5D2E-BE93-222D86848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51710" y="4875203"/>
            <a:ext cx="6580590" cy="294805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CA" sz="800" dirty="0"/>
              <a:t>Heagy, L.J., Oldenburg, D.W., Kang, S., Yang, D., 2025. Why every electromagnetic inversion needs a 3D forward simulation. The Leading Edge 44, 847–854.</a:t>
            </a:r>
            <a:endParaRPr lang="en-US" sz="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7581FC-4FC9-DB5E-11E0-0663AF1B58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31" r="17320"/>
          <a:stretch>
            <a:fillRect/>
          </a:stretch>
        </p:blipFill>
        <p:spPr>
          <a:xfrm>
            <a:off x="3936999" y="789125"/>
            <a:ext cx="1930401" cy="413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43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C7115-2D98-C740-F8CE-B73D64095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3D?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17D43-63FF-C266-FCC2-114E5A853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04075"/>
            <a:ext cx="3852690" cy="36648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example: conductive target, conductive overburden (partial)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AD2F8-E278-5475-9112-F64EDA87C7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44549F9-00E6-4D32-BF7A-102DC559AAD5}"/>
              </a:ext>
            </a:extLst>
          </p:cNvPr>
          <p:cNvGrpSpPr/>
          <p:nvPr/>
        </p:nvGrpSpPr>
        <p:grpSpPr>
          <a:xfrm>
            <a:off x="-1" y="1779635"/>
            <a:ext cx="4394581" cy="1913679"/>
            <a:chOff x="1714500" y="1909762"/>
            <a:chExt cx="3040382" cy="132397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62BEE8B-FC1B-DE4A-1589-635C27FE7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0901" r="53360"/>
            <a:stretch>
              <a:fillRect/>
            </a:stretch>
          </p:blipFill>
          <p:spPr bwMode="auto">
            <a:xfrm>
              <a:off x="1714500" y="2054087"/>
              <a:ext cx="2665476" cy="117965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A5AC6CF-B56D-3CEF-E1D1-D51DC24C3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91440"/>
            <a:stretch>
              <a:fillRect/>
            </a:stretch>
          </p:blipFill>
          <p:spPr bwMode="auto">
            <a:xfrm>
              <a:off x="4265678" y="1909762"/>
              <a:ext cx="489204" cy="1323975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7933C28-D566-1F58-3D7C-CB8C652E6E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69" t="6390" r="52795" b="55547"/>
          <a:stretch>
            <a:fillRect/>
          </a:stretch>
        </p:blipFill>
        <p:spPr bwMode="auto">
          <a:xfrm>
            <a:off x="5406571" y="609600"/>
            <a:ext cx="2867103" cy="16341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4A280B-DA2A-64CD-44A5-A0228928FD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" t="-240" r="94835" b="55547"/>
          <a:stretch>
            <a:fillRect/>
          </a:stretch>
        </p:blipFill>
        <p:spPr bwMode="auto">
          <a:xfrm>
            <a:off x="4749421" y="324980"/>
            <a:ext cx="707099" cy="1918797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27981D1-5BF3-3180-AC41-A9BCA9335607}"/>
              </a:ext>
            </a:extLst>
          </p:cNvPr>
          <p:cNvSpPr txBox="1">
            <a:spLocks/>
          </p:cNvSpPr>
          <p:nvPr/>
        </p:nvSpPr>
        <p:spPr>
          <a:xfrm>
            <a:off x="4749421" y="126663"/>
            <a:ext cx="385269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US" dirty="0"/>
              <a:t>Stitched 1D: dip, extent ambiguous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0B12DA-A54E-A164-9F71-8C29E49EF7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952" t="16320" r="155" b="26585"/>
          <a:stretch>
            <a:fillRect/>
          </a:stretch>
        </p:blipFill>
        <p:spPr bwMode="auto">
          <a:xfrm>
            <a:off x="8153049" y="542769"/>
            <a:ext cx="529564" cy="13817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BD4BA6-7FA8-E148-F41F-A13CEBFD69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912" r="62415"/>
          <a:stretch>
            <a:fillRect/>
          </a:stretch>
        </p:blipFill>
        <p:spPr>
          <a:xfrm>
            <a:off x="4896666" y="2839188"/>
            <a:ext cx="3935634" cy="2293829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9D90E17-4457-1B64-40DD-888F241AA5A9}"/>
              </a:ext>
            </a:extLst>
          </p:cNvPr>
          <p:cNvSpPr txBox="1">
            <a:spLocks/>
          </p:cNvSpPr>
          <p:nvPr/>
        </p:nvSpPr>
        <p:spPr>
          <a:xfrm>
            <a:off x="4829923" y="2143906"/>
            <a:ext cx="3852690" cy="752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US" dirty="0"/>
              <a:t>3D forward (orange) shows where 1D inversion doesn’t fit the data </a:t>
            </a:r>
          </a:p>
        </p:txBody>
      </p:sp>
    </p:spTree>
    <p:extLst>
      <p:ext uri="{BB962C8B-B14F-4D97-AF65-F5344CB8AC3E}">
        <p14:creationId xmlns:p14="http://schemas.microsoft.com/office/powerpoint/2010/main" val="1135370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39CA1-859E-A3CE-B329-691413BA6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tdem_fields_src1">
            <a:hlinkClick r:id="" action="ppaction://media"/>
            <a:extLst>
              <a:ext uri="{FF2B5EF4-FFF2-40B4-BE49-F238E27FC236}">
                <a16:creationId xmlns:a16="http://schemas.microsoft.com/office/drawing/2014/main" id="{5ABC1065-C9AB-F0B6-424A-5A4AA45267A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216425"/>
            <a:ext cx="9144000" cy="4891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A72F47-6B1F-24EE-F44A-DFFE39FE1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3D?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FEF29-A45B-11E3-0F3F-1529DB8874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63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75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6C9C7-B3B1-D4E3-2679-0D126FB0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5994A-65B8-F2D4-4D62-E4CA0F20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with 3D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2B59F-DF64-2DCB-0C4F-EC763913B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04075"/>
            <a:ext cx="5180644" cy="3664800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Computational cost</a:t>
            </a:r>
          </a:p>
          <a:p>
            <a:pPr marL="114300" indent="0">
              <a:buNone/>
            </a:pPr>
            <a:r>
              <a:rPr lang="en-US" b="1" dirty="0"/>
              <a:t>Non-uniqueness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12317-ED82-FE09-929D-91424F469F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6B6423-B251-6F1B-AB84-D5185BB0C1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060"/>
          <a:stretch/>
        </p:blipFill>
        <p:spPr>
          <a:xfrm>
            <a:off x="6120134" y="1011789"/>
            <a:ext cx="2901024" cy="288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928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FF8D7-38CE-9BFC-1121-021D2129B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3D635-DCA1-9925-AC57-320DE5DA3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with 3D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027D6-CF58-18FC-C7BB-3A1E8DE92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04075"/>
            <a:ext cx="5180644" cy="3664800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Computational cost. </a:t>
            </a:r>
            <a:endParaRPr lang="en-US" dirty="0"/>
          </a:p>
          <a:p>
            <a:pPr marL="571500" lvl="1" indent="0">
              <a:buNone/>
            </a:pPr>
            <a:r>
              <a:rPr lang="en-US" dirty="0"/>
              <a:t>Solving full 3D Maxwell </a:t>
            </a:r>
          </a:p>
          <a:p>
            <a:pPr marL="571500" lvl="1" indent="0">
              <a:buNone/>
            </a:pPr>
            <a:endParaRPr lang="en-US" dirty="0"/>
          </a:p>
          <a:p>
            <a:pPr marL="571500" lvl="1" indent="0">
              <a:buNone/>
            </a:pPr>
            <a:endParaRPr lang="en-US" dirty="0"/>
          </a:p>
          <a:p>
            <a:pPr marL="571500" lvl="1" indent="0">
              <a:buNone/>
            </a:pPr>
            <a:endParaRPr lang="en-US" dirty="0"/>
          </a:p>
          <a:p>
            <a:pPr marL="571500" lvl="1" indent="0">
              <a:buNone/>
            </a:pPr>
            <a:r>
              <a:rPr lang="en-US" dirty="0"/>
              <a:t>Discretize in space</a:t>
            </a:r>
          </a:p>
          <a:p>
            <a:pPr marL="571500" lvl="1" indent="0">
              <a:buNone/>
            </a:pPr>
            <a:endParaRPr lang="en-US" dirty="0"/>
          </a:p>
          <a:p>
            <a:pPr marL="571500" lvl="1" indent="0">
              <a:buNone/>
            </a:pPr>
            <a:endParaRPr lang="en-US" dirty="0"/>
          </a:p>
          <a:p>
            <a:pPr marL="571500" lvl="1" indent="0">
              <a:buNone/>
            </a:pPr>
            <a:endParaRPr lang="en-US" dirty="0"/>
          </a:p>
          <a:p>
            <a:pPr marL="571500" lvl="1" indent="0">
              <a:buNone/>
            </a:pPr>
            <a:r>
              <a:rPr lang="en-US" dirty="0"/>
              <a:t>Then in time (backward Euler;         depends on      )</a:t>
            </a:r>
          </a:p>
          <a:p>
            <a:pPr marL="857250" lvl="1" indent="-285750"/>
            <a:r>
              <a:rPr lang="en-US" dirty="0"/>
              <a:t>Time step     </a:t>
            </a:r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BD257-CBDA-DC89-20B3-180ED489B4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63C141-A53B-2C49-D5E8-621B1FC1A1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060"/>
          <a:stretch/>
        </p:blipFill>
        <p:spPr>
          <a:xfrm>
            <a:off x="6120134" y="1011789"/>
            <a:ext cx="2901024" cy="28814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0F927A-1773-9F74-48D0-083FF7F1E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224" y="1683663"/>
            <a:ext cx="2200028" cy="3898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12288E-6DF8-F5E6-1945-A84A41C8F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300" y="2681635"/>
            <a:ext cx="2227876" cy="3655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3A7C9E-0A93-3F89-075A-7F29B5A843F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2378" r="47594"/>
          <a:stretch/>
        </p:blipFill>
        <p:spPr>
          <a:xfrm>
            <a:off x="3248265" y="3183189"/>
            <a:ext cx="436651" cy="439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363AAE-6016-E11C-4533-2016047B15B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2378" r="52362"/>
          <a:stretch/>
        </p:blipFill>
        <p:spPr>
          <a:xfrm>
            <a:off x="4628323" y="3183189"/>
            <a:ext cx="229043" cy="4392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FE42F4-F3B2-414A-1022-9106F93EC5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0901" y="3589110"/>
            <a:ext cx="1127364" cy="169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11F459-8C0E-FDE5-7A8C-3C6C0675DB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5224" y="3953132"/>
            <a:ext cx="3965378" cy="42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155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316B-93C5-6313-56EC-D412DB949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D8C14-BBC7-9229-302D-DD4118949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with 3D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38139-1F6D-3D9B-A5D6-D87CFE85E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04075"/>
            <a:ext cx="5180644" cy="36648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b="1" dirty="0"/>
              <a:t>Computational cost. </a:t>
            </a:r>
            <a:endParaRPr lang="en-US" dirty="0"/>
          </a:p>
          <a:p>
            <a:pPr marL="571500" lvl="1" indent="0">
              <a:buNone/>
            </a:pPr>
            <a:r>
              <a:rPr lang="en-US" dirty="0"/>
              <a:t>Time stepping problem</a:t>
            </a:r>
          </a:p>
          <a:p>
            <a:pPr marL="571500" lvl="1" indent="0">
              <a:buNone/>
            </a:pPr>
            <a:endParaRPr lang="en-US" dirty="0"/>
          </a:p>
          <a:p>
            <a:pPr marL="571500" lvl="1" indent="0">
              <a:buNone/>
            </a:pPr>
            <a:endParaRPr lang="en-US" dirty="0"/>
          </a:p>
          <a:p>
            <a:pPr marL="571500" lvl="1" indent="0">
              <a:buNone/>
            </a:pPr>
            <a:endParaRPr lang="en-US" dirty="0"/>
          </a:p>
          <a:p>
            <a:pPr marL="571500" lvl="1" indent="0">
              <a:buNone/>
            </a:pPr>
            <a:r>
              <a:rPr lang="en-US" dirty="0"/>
              <a:t>Arrange in a big matrix</a:t>
            </a:r>
          </a:p>
          <a:p>
            <a:pPr marL="571500" lvl="1" indent="0">
              <a:buNone/>
            </a:pPr>
            <a:endParaRPr lang="en-US" dirty="0"/>
          </a:p>
          <a:p>
            <a:pPr marL="571500" lvl="1" indent="0">
              <a:buNone/>
            </a:pPr>
            <a:endParaRPr lang="en-US" dirty="0"/>
          </a:p>
          <a:p>
            <a:pPr marL="571500" lvl="1" indent="0">
              <a:buNone/>
            </a:pPr>
            <a:endParaRPr lang="en-US" dirty="0"/>
          </a:p>
          <a:p>
            <a:pPr marL="571500" lvl="1" indent="0">
              <a:buNone/>
            </a:pPr>
            <a:endParaRPr lang="en-US" dirty="0"/>
          </a:p>
          <a:p>
            <a:pPr marL="571500" lvl="1" indent="0">
              <a:buNone/>
            </a:pPr>
            <a:endParaRPr lang="en-US" dirty="0"/>
          </a:p>
          <a:p>
            <a:pPr marL="571500" lvl="1" indent="0">
              <a:buNone/>
            </a:pPr>
            <a:r>
              <a:rPr lang="en-US" dirty="0"/>
              <a:t>Solve with forward elimination</a:t>
            </a:r>
          </a:p>
          <a:p>
            <a:pPr marL="857250" lvl="1" indent="-285750"/>
            <a:r>
              <a:rPr lang="en-US" dirty="0"/>
              <a:t>Initial conditions provide</a:t>
            </a:r>
          </a:p>
          <a:p>
            <a:pPr marL="857250" lvl="1" indent="-285750"/>
            <a:r>
              <a:rPr lang="en-US" dirty="0"/>
              <a:t>To propagate forward, solve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A337A-4AA4-7A45-E479-D461BA72F3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1F0C2D-E304-3BB2-62BE-7CB00EFC2B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060"/>
          <a:stretch/>
        </p:blipFill>
        <p:spPr>
          <a:xfrm>
            <a:off x="6120134" y="1011789"/>
            <a:ext cx="2901024" cy="28814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E14211-DF6E-F593-288F-3D9CEBADD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892" y="1661502"/>
            <a:ext cx="3251708" cy="5082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40815E-FC45-0972-92B3-F99A0D83C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892" y="2571751"/>
            <a:ext cx="3757034" cy="11111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36B3CB4-8F62-8652-846D-FED3AE2A480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3624" r="31524" b="83797"/>
          <a:stretch/>
        </p:blipFill>
        <p:spPr>
          <a:xfrm>
            <a:off x="3105498" y="4014293"/>
            <a:ext cx="277102" cy="2572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F75680-7A62-8598-11A7-E103AFC279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1187" y="4571335"/>
            <a:ext cx="2208647" cy="16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30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E743D-6DC3-B2E7-0063-337960AF5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E9063-F506-61A7-583F-A7ADE7356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with 3D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85E47-7A3B-EFAD-29B1-1E80A6AFE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04075"/>
            <a:ext cx="5540460" cy="36648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b="1" dirty="0"/>
              <a:t>Computational cost.</a:t>
            </a:r>
          </a:p>
          <a:p>
            <a:pPr marL="114300" indent="0">
              <a:buNone/>
            </a:pPr>
            <a:endParaRPr lang="en-US" sz="800" dirty="0"/>
          </a:p>
          <a:p>
            <a:pPr marL="114300" indent="0">
              <a:buNone/>
            </a:pPr>
            <a:r>
              <a:rPr lang="en-US" dirty="0"/>
              <a:t>50,000 cells (not a huge mesh…) </a:t>
            </a:r>
          </a:p>
          <a:p>
            <a:pPr marL="114300" indent="0">
              <a:buNone/>
            </a:pPr>
            <a:r>
              <a:rPr lang="en-US" dirty="0"/>
              <a:t>80 time-steps, 4 unique step sizes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For a single sounding:</a:t>
            </a:r>
          </a:p>
          <a:p>
            <a:r>
              <a:rPr lang="en-US" dirty="0"/>
              <a:t>4 factorizations:            each ~18 s</a:t>
            </a:r>
          </a:p>
          <a:p>
            <a:r>
              <a:rPr lang="en-US" dirty="0"/>
              <a:t>80 back-substitutions:  each ~0.15 s</a:t>
            </a:r>
          </a:p>
          <a:p>
            <a:r>
              <a:rPr lang="en-US" dirty="0"/>
              <a:t>total: 90s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dirty="0"/>
              <a:t>Inversion: each iteration may take ~10-20 solves</a:t>
            </a:r>
          </a:p>
          <a:p>
            <a:pPr marL="114300" indent="0">
              <a:buNone/>
            </a:pPr>
            <a:r>
              <a:rPr lang="en-US" dirty="0"/>
              <a:t>10 inversion iterations </a:t>
            </a:r>
            <a:r>
              <a:rPr lang="en-US" dirty="0">
                <a:sym typeface="Wingdings" pitchFamily="2" charset="2"/>
              </a:rPr>
              <a:t> ~5 hours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A1F51-BD68-9370-3BE2-CF83316911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8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FF6AF7-374C-4460-0491-B90CE0DEFC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43" t="14656" r="19739" b="3183"/>
          <a:stretch/>
        </p:blipFill>
        <p:spPr>
          <a:xfrm>
            <a:off x="5280649" y="1287718"/>
            <a:ext cx="3863351" cy="289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367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FB1AD-1317-B573-6638-5C9AC2893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720E5-B3CB-DB32-1342-22BFFE8AD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with 3D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90407-1252-3149-8049-4D1020906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04075"/>
            <a:ext cx="5180644" cy="36648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b="1" dirty="0"/>
              <a:t>Computational cost. </a:t>
            </a:r>
          </a:p>
          <a:p>
            <a:pPr marL="114300" indent="0">
              <a:buNone/>
            </a:pPr>
            <a:endParaRPr lang="en-US" sz="600" b="1" dirty="0"/>
          </a:p>
          <a:p>
            <a:pPr marL="114300" indent="0">
              <a:buNone/>
            </a:pPr>
            <a:r>
              <a:rPr lang="en-US" b="1" dirty="0"/>
              <a:t>Solution: tiling </a:t>
            </a:r>
            <a:r>
              <a:rPr lang="en-US" dirty="0"/>
              <a:t>(after Yang et al; Cox et al)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041B6-62E3-B983-00DC-A29D015E41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9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98F95F-C02F-7E46-01E8-C7C1F3EFA6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176" t="14415" r="19874" b="3303"/>
          <a:stretch/>
        </p:blipFill>
        <p:spPr>
          <a:xfrm>
            <a:off x="4890779" y="2040370"/>
            <a:ext cx="3859115" cy="29017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CCDBC6-DB58-24E8-762A-077A6BEA27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31" b="57478"/>
          <a:stretch/>
        </p:blipFill>
        <p:spPr>
          <a:xfrm flipH="1">
            <a:off x="6271253" y="2481719"/>
            <a:ext cx="1114535" cy="7272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0AC415-1297-B1CA-9D73-B6A5FBB3B54F}"/>
              </a:ext>
            </a:extLst>
          </p:cNvPr>
          <p:cNvSpPr txBox="1"/>
          <p:nvPr/>
        </p:nvSpPr>
        <p:spPr>
          <a:xfrm>
            <a:off x="5334436" y="1791527"/>
            <a:ext cx="2971800" cy="369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Neue Light" charset="0"/>
                <a:ea typeface="Helvetica Neue Light" charset="0"/>
                <a:cs typeface="Helvetica Neue Light" charset="0"/>
              </a:rPr>
              <a:t>Local mesh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E12F422-CA76-4995-2F77-42090328334B}"/>
              </a:ext>
            </a:extLst>
          </p:cNvPr>
          <p:cNvSpPr txBox="1">
            <a:spLocks/>
          </p:cNvSpPr>
          <p:nvPr/>
        </p:nvSpPr>
        <p:spPr>
          <a:xfrm>
            <a:off x="47515" y="4868383"/>
            <a:ext cx="8784785" cy="496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CA" sz="800" dirty="0"/>
              <a:t>Yang, D., Oldenburg, D.W., Haber, E., 2014. 3-D inversion of airborne electromagnetic data parallelized and accelerated by local mesh and adaptive soundings. Geophysical Journal International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A408C8-37B9-19A5-19A8-77A01255DC7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243" t="14656" r="19739" b="3183"/>
          <a:stretch/>
        </p:blipFill>
        <p:spPr>
          <a:xfrm>
            <a:off x="0" y="2040370"/>
            <a:ext cx="3863351" cy="28975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AC6E23-A4E8-7B20-522A-69BF0070914A}"/>
              </a:ext>
            </a:extLst>
          </p:cNvPr>
          <p:cNvSpPr txBox="1"/>
          <p:nvPr/>
        </p:nvSpPr>
        <p:spPr>
          <a:xfrm>
            <a:off x="599170" y="1852818"/>
            <a:ext cx="2971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Neue Light" charset="0"/>
                <a:ea typeface="Helvetica Neue Light" charset="0"/>
                <a:cs typeface="Helvetica Neue Light" charset="0"/>
              </a:rPr>
              <a:t>Global mesh</a:t>
            </a:r>
          </a:p>
        </p:txBody>
      </p:sp>
    </p:spTree>
    <p:extLst>
      <p:ext uri="{BB962C8B-B14F-4D97-AF65-F5344CB8AC3E}">
        <p14:creationId xmlns:p14="http://schemas.microsoft.com/office/powerpoint/2010/main" val="2501186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E7697-5882-9B42-5F24-CE2AAF92F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BAFF1-7B0D-E640-4B00-E3067B752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with 3D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B2AC4-C8E9-29F4-8306-E7E527B1F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04075"/>
            <a:ext cx="5180644" cy="36648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b="1" dirty="0"/>
              <a:t>Computational cost. </a:t>
            </a:r>
          </a:p>
          <a:p>
            <a:pPr marL="114300" indent="0">
              <a:buNone/>
            </a:pPr>
            <a:endParaRPr lang="en-US" sz="600" b="1" dirty="0"/>
          </a:p>
          <a:p>
            <a:pPr marL="114300" indent="0">
              <a:buNone/>
            </a:pPr>
            <a:r>
              <a:rPr lang="en-US" b="1" dirty="0"/>
              <a:t>Solution: tiling </a:t>
            </a:r>
            <a:r>
              <a:rPr lang="en-US" dirty="0"/>
              <a:t>(after Yang et al; Cox et al)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BA387-06BB-5D07-42EF-04B5A735E8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5115AC-2568-9A90-430E-7D9E23FBD4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43" t="14656" r="19739" b="3183"/>
          <a:stretch/>
        </p:blipFill>
        <p:spPr>
          <a:xfrm>
            <a:off x="0" y="2040370"/>
            <a:ext cx="3863351" cy="28975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9798EF-E0D6-E8C6-A151-D6846B2E48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31" b="57478"/>
          <a:stretch/>
        </p:blipFill>
        <p:spPr>
          <a:xfrm flipH="1">
            <a:off x="6271253" y="2481719"/>
            <a:ext cx="1114535" cy="7272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A5DBE0-1CD8-930A-C273-044960B0276C}"/>
              </a:ext>
            </a:extLst>
          </p:cNvPr>
          <p:cNvSpPr txBox="1"/>
          <p:nvPr/>
        </p:nvSpPr>
        <p:spPr>
          <a:xfrm>
            <a:off x="599170" y="1852818"/>
            <a:ext cx="2971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Neue Light" charset="0"/>
                <a:ea typeface="Helvetica Neue Light" charset="0"/>
                <a:cs typeface="Helvetica Neue Light" charset="0"/>
              </a:rPr>
              <a:t>Global mesh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36C500-F5EB-F571-C353-DEEC91DCF5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107" t="14971" r="19875" b="3063"/>
          <a:stretch/>
        </p:blipFill>
        <p:spPr>
          <a:xfrm>
            <a:off x="4890779" y="2054536"/>
            <a:ext cx="3863351" cy="28906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FDBAD0-7232-E525-9330-230F308C1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31" b="57478"/>
          <a:stretch/>
        </p:blipFill>
        <p:spPr>
          <a:xfrm flipH="1">
            <a:off x="6116603" y="2175867"/>
            <a:ext cx="1114535" cy="7272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601A57-7474-981E-94FC-F6EC2DBDF4BA}"/>
              </a:ext>
            </a:extLst>
          </p:cNvPr>
          <p:cNvSpPr txBox="1"/>
          <p:nvPr/>
        </p:nvSpPr>
        <p:spPr>
          <a:xfrm>
            <a:off x="5334436" y="1791527"/>
            <a:ext cx="2971800" cy="369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Neue Light" charset="0"/>
                <a:ea typeface="Helvetica Neue Light" charset="0"/>
                <a:cs typeface="Helvetica Neue Light" charset="0"/>
              </a:rPr>
              <a:t>Local mesh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E5E9E99-9FEE-2A90-48E0-DCC91D09115C}"/>
              </a:ext>
            </a:extLst>
          </p:cNvPr>
          <p:cNvSpPr txBox="1">
            <a:spLocks/>
          </p:cNvSpPr>
          <p:nvPr/>
        </p:nvSpPr>
        <p:spPr>
          <a:xfrm>
            <a:off x="47515" y="4868383"/>
            <a:ext cx="8784785" cy="496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CA" sz="800" dirty="0"/>
              <a:t>Yang, D., Oldenburg, D.W., Haber, E., 2014. 3-D inversion of airborne electromagnetic data parallelized and accelerated by local mesh and adaptive soundings. Geophysical Journal International</a:t>
            </a:r>
          </a:p>
        </p:txBody>
      </p:sp>
    </p:spTree>
    <p:extLst>
      <p:ext uri="{BB962C8B-B14F-4D97-AF65-F5344CB8AC3E}">
        <p14:creationId xmlns:p14="http://schemas.microsoft.com/office/powerpoint/2010/main" val="1154891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01348-B265-043D-8A16-088D1F675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058DE-05B7-24F6-8B40-D5595BEB5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with 3D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1ED07-BC92-ACD8-2729-8A89024CE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04075"/>
            <a:ext cx="6622500" cy="36648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b="1" dirty="0" err="1"/>
              <a:t>Nonuniqueness</a:t>
            </a:r>
            <a:endParaRPr lang="en-US" b="1" dirty="0"/>
          </a:p>
          <a:p>
            <a:r>
              <a:rPr lang="en-US" dirty="0"/>
              <a:t>Higher dimensional space </a:t>
            </a:r>
          </a:p>
          <a:p>
            <a:r>
              <a:rPr lang="en-US" dirty="0"/>
              <a:t>Prone to sensitivity artifacts (see McMillan)</a:t>
            </a:r>
          </a:p>
          <a:p>
            <a:pPr marL="114300" indent="0">
              <a:buNone/>
            </a:pPr>
            <a:endParaRPr lang="en-US" sz="800" dirty="0"/>
          </a:p>
          <a:p>
            <a:pPr marL="114300" indent="0">
              <a:buNone/>
            </a:pPr>
            <a:r>
              <a:rPr lang="en-US" dirty="0"/>
              <a:t>e.g. Cold-started inversion, no sensitivity weighting 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BB675-935F-6AB6-0591-DEE849E935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11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AD9DE8-A75C-B86B-AFAB-C7B16A2D53A1}"/>
              </a:ext>
            </a:extLst>
          </p:cNvPr>
          <p:cNvGrpSpPr/>
          <p:nvPr/>
        </p:nvGrpSpPr>
        <p:grpSpPr>
          <a:xfrm>
            <a:off x="1441724" y="2541190"/>
            <a:ext cx="6260551" cy="2591827"/>
            <a:chOff x="1340399" y="2601337"/>
            <a:chExt cx="6031951" cy="249718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86AD972-6D75-06DD-FF71-57C24D977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1121"/>
            <a:stretch>
              <a:fillRect/>
            </a:stretch>
          </p:blipFill>
          <p:spPr bwMode="auto">
            <a:xfrm>
              <a:off x="1340399" y="2601337"/>
              <a:ext cx="5460451" cy="249718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AE7688E-4CC7-584F-AC38-EA9AFEF48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92909" r="-118"/>
            <a:stretch>
              <a:fillRect/>
            </a:stretch>
          </p:blipFill>
          <p:spPr bwMode="auto">
            <a:xfrm>
              <a:off x="6800850" y="2601337"/>
              <a:ext cx="571500" cy="24971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8670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F24F7-2C9C-A363-BE05-4B3FDC8B3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CE6E3-FCD7-0B25-A110-76526DF37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with 3D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A197E-6D3F-2313-6651-0C4FF14FC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04075"/>
            <a:ext cx="7917900" cy="36648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b="1" dirty="0" err="1"/>
              <a:t>Nonuniqueness</a:t>
            </a:r>
            <a:endParaRPr lang="en-US" b="1" dirty="0"/>
          </a:p>
          <a:p>
            <a:pPr marL="114300" indent="0">
              <a:buNone/>
            </a:pPr>
            <a:r>
              <a:rPr lang="en-US" b="1" dirty="0"/>
              <a:t>One solution: </a:t>
            </a:r>
            <a:r>
              <a:rPr lang="en-US" dirty="0"/>
              <a:t>parametric / hybrid parametric approaches (after McMillan et al)</a:t>
            </a:r>
          </a:p>
          <a:p>
            <a:r>
              <a:rPr lang="en-US" dirty="0"/>
              <a:t>2 step inversion: invert late times only for best fitting ellipsoid </a:t>
            </a:r>
          </a:p>
          <a:p>
            <a:r>
              <a:rPr lang="en-US" dirty="0"/>
              <a:t>Use this as a starting and reference model for a full 3D voxel inversion  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926AF-5E15-76ED-E554-55CDB71420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7CB6F-A565-8DB0-FE0B-CC0100DE1B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"/>
          <a:stretch>
            <a:fillRect/>
          </a:stretch>
        </p:blipFill>
        <p:spPr bwMode="auto">
          <a:xfrm>
            <a:off x="524107" y="2541190"/>
            <a:ext cx="8222701" cy="259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430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19DE7-3D90-826E-FC75-F35E85B5A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F2416-2460-ED6B-A2D7-CF759F246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with 3D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66AA8-437D-C973-C7DC-E73FC430E2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13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0CE85F-9B5F-549C-2E0A-C61A3CBB9E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"/>
          <a:stretch>
            <a:fillRect/>
          </a:stretch>
        </p:blipFill>
        <p:spPr bwMode="auto">
          <a:xfrm>
            <a:off x="524107" y="2541190"/>
            <a:ext cx="8222701" cy="25918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6FBC39-ED18-45A9-0D4E-A0FBDEB83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07" y="739782"/>
            <a:ext cx="7667393" cy="186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74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95333-EB52-7CD1-FDD2-34512DCB9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E81CD-A703-41D8-3E35-700327D65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tiling + hybrid parametric inversions in </a:t>
            </a:r>
            <a:r>
              <a:rPr lang="en-US" dirty="0" err="1"/>
              <a:t>SimPEG</a:t>
            </a: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two key components: </a:t>
            </a:r>
          </a:p>
          <a:p>
            <a:r>
              <a:rPr lang="en-US" dirty="0"/>
              <a:t>mappings: transformations of model vector, with derivatives  </a:t>
            </a:r>
          </a:p>
          <a:p>
            <a:r>
              <a:rPr lang="en-US" dirty="0"/>
              <a:t>meta-simulation: for tiling &amp; parallelized simulations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EA528-411B-DB74-4B06-DD89D7B40B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14</a:t>
            </a:fld>
            <a:endParaRPr lang="en-GB"/>
          </a:p>
        </p:txBody>
      </p:sp>
      <p:pic>
        <p:nvPicPr>
          <p:cNvPr id="5" name="Picture 4" descr="SimPEG — SimPEG 0.20.0.post2 documentation">
            <a:extLst>
              <a:ext uri="{FF2B5EF4-FFF2-40B4-BE49-F238E27FC236}">
                <a16:creationId xmlns:a16="http://schemas.microsoft.com/office/drawing/2014/main" id="{EAC47318-9D44-0302-DE44-BE5F128D7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636" y="56521"/>
            <a:ext cx="2194664" cy="79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793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46627-AF77-4BC1-EA2E-8CC819F0A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692E0-FB98-C9FA-CE92-2E6B53884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mappings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A04CE-500B-CE7A-4CA2-101E7C8AA0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1EEC43-8F5B-1926-60C3-2215EB4D1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" y="1551217"/>
            <a:ext cx="1142182" cy="179865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C0ECE9B-5B71-44BB-4DFE-437233478F1C}"/>
              </a:ext>
            </a:extLst>
          </p:cNvPr>
          <p:cNvSpPr/>
          <p:nvPr/>
        </p:nvSpPr>
        <p:spPr>
          <a:xfrm rot="2485708">
            <a:off x="652168" y="3589306"/>
            <a:ext cx="202938" cy="38864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F30A069-49C3-4F47-5492-A815C72C6702}"/>
              </a:ext>
            </a:extLst>
          </p:cNvPr>
          <p:cNvSpPr txBox="1">
            <a:spLocks/>
          </p:cNvSpPr>
          <p:nvPr/>
        </p:nvSpPr>
        <p:spPr>
          <a:xfrm>
            <a:off x="197404" y="863421"/>
            <a:ext cx="1252264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US" dirty="0"/>
              <a:t>Ellipsoid parameters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4E920EE-BC12-09BD-6E4B-F318A2F9741C}"/>
              </a:ext>
            </a:extLst>
          </p:cNvPr>
          <p:cNvSpPr txBox="1">
            <a:spLocks/>
          </p:cNvSpPr>
          <p:nvPr/>
        </p:nvSpPr>
        <p:spPr>
          <a:xfrm>
            <a:off x="6126792" y="27226"/>
            <a:ext cx="2380542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 algn="ctr">
              <a:buFont typeface="Helvetica Neue Light"/>
              <a:buNone/>
            </a:pPr>
            <a:endParaRPr lang="en-US" sz="1400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110CB37-4A6F-E423-3D58-C6A185DB7EAD}"/>
              </a:ext>
            </a:extLst>
          </p:cNvPr>
          <p:cNvSpPr/>
          <p:nvPr/>
        </p:nvSpPr>
        <p:spPr>
          <a:xfrm>
            <a:off x="4614222" y="1802168"/>
            <a:ext cx="3272478" cy="130061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Mappings translate inversion parameters to the forward simulation mesh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17FDDB-9802-9E1A-5474-D2886B543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9885" y="2344063"/>
            <a:ext cx="173659" cy="138927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2191821-D60B-2F24-A522-53B540D0E11C}"/>
              </a:ext>
            </a:extLst>
          </p:cNvPr>
          <p:cNvCxnSpPr>
            <a:cxnSpLocks/>
          </p:cNvCxnSpPr>
          <p:nvPr/>
        </p:nvCxnSpPr>
        <p:spPr>
          <a:xfrm>
            <a:off x="1205040" y="2423119"/>
            <a:ext cx="31559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008645C-8CFC-6DC9-786C-A31F70D37157}"/>
              </a:ext>
            </a:extLst>
          </p:cNvPr>
          <p:cNvCxnSpPr>
            <a:cxnSpLocks/>
          </p:cNvCxnSpPr>
          <p:nvPr/>
        </p:nvCxnSpPr>
        <p:spPr>
          <a:xfrm>
            <a:off x="7974623" y="2423119"/>
            <a:ext cx="8576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643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FE016-E299-9B2A-6022-1D7C633C8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CEA7-6946-5339-DF42-9468A2584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mappings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C64FB-773E-8073-2DC7-98CC90BCE3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78212B-C557-30DC-3445-589D6D55F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" y="1551217"/>
            <a:ext cx="1142182" cy="179865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BA19100-D2BF-2E25-2450-0EFDE80D3776}"/>
              </a:ext>
            </a:extLst>
          </p:cNvPr>
          <p:cNvSpPr/>
          <p:nvPr/>
        </p:nvSpPr>
        <p:spPr>
          <a:xfrm rot="2485708">
            <a:off x="652168" y="3589306"/>
            <a:ext cx="202938" cy="38864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BF5E08-92A4-68B0-ACC1-36085F78F66D}"/>
              </a:ext>
            </a:extLst>
          </p:cNvPr>
          <p:cNvSpPr txBox="1">
            <a:spLocks/>
          </p:cNvSpPr>
          <p:nvPr/>
        </p:nvSpPr>
        <p:spPr>
          <a:xfrm>
            <a:off x="197404" y="863421"/>
            <a:ext cx="1252264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US" dirty="0"/>
              <a:t>Ellipsoid parameters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313EAE3-6131-0B0C-EC1B-004A08E0D14D}"/>
              </a:ext>
            </a:extLst>
          </p:cNvPr>
          <p:cNvSpPr txBox="1">
            <a:spLocks/>
          </p:cNvSpPr>
          <p:nvPr/>
        </p:nvSpPr>
        <p:spPr>
          <a:xfrm>
            <a:off x="1495874" y="1318802"/>
            <a:ext cx="2242170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None/>
            </a:pPr>
            <a:r>
              <a:rPr lang="en-US" sz="1300" dirty="0"/>
              <a:t>Parametric ellipsoid on global mesh (in active cells)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7B7EE71-6BA7-8A33-9971-A02DDA58F18C}"/>
              </a:ext>
            </a:extLst>
          </p:cNvPr>
          <p:cNvSpPr txBox="1">
            <a:spLocks/>
          </p:cNvSpPr>
          <p:nvPr/>
        </p:nvSpPr>
        <p:spPr>
          <a:xfrm>
            <a:off x="1495590" y="2992912"/>
            <a:ext cx="2615812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maps.ParametricEllipsoid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marL="114300" indent="0">
              <a:buFont typeface="Helvetica Neue Light"/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global_mesh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marL="114300" indent="0">
              <a:buFont typeface="Helvetica Neue Light"/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active_cells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114300" indent="0">
              <a:buFont typeface="Helvetica Neue Light"/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boundary_sharpness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=10.0)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2AC94F0-96E0-CF7A-8A5E-F6B105819397}"/>
              </a:ext>
            </a:extLst>
          </p:cNvPr>
          <p:cNvSpPr txBox="1">
            <a:spLocks/>
          </p:cNvSpPr>
          <p:nvPr/>
        </p:nvSpPr>
        <p:spPr>
          <a:xfrm>
            <a:off x="6126792" y="27226"/>
            <a:ext cx="2380542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 algn="ctr">
              <a:buFont typeface="Helvetica Neue Light"/>
              <a:buNone/>
            </a:pPr>
            <a:endParaRPr lang="en-US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F5CD995-8AF0-7880-375B-F84AF6F00F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63" t="23989" r="69447"/>
          <a:stretch>
            <a:fillRect/>
          </a:stretch>
        </p:blipFill>
        <p:spPr>
          <a:xfrm>
            <a:off x="1494074" y="1934109"/>
            <a:ext cx="2243970" cy="116867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9DBA42-DDF8-84BC-D0EF-46769BFB5448}"/>
              </a:ext>
            </a:extLst>
          </p:cNvPr>
          <p:cNvCxnSpPr>
            <a:cxnSpLocks/>
          </p:cNvCxnSpPr>
          <p:nvPr/>
        </p:nvCxnSpPr>
        <p:spPr>
          <a:xfrm>
            <a:off x="1244105" y="2482990"/>
            <a:ext cx="2055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67A96F9-1095-AD8E-FDD2-6DC0B847A393}"/>
              </a:ext>
            </a:extLst>
          </p:cNvPr>
          <p:cNvSpPr/>
          <p:nvPr/>
        </p:nvSpPr>
        <p:spPr>
          <a:xfrm>
            <a:off x="4614222" y="1802168"/>
            <a:ext cx="3272478" cy="130061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Parametric ellipsoid</a:t>
            </a:r>
          </a:p>
          <a:p>
            <a:endParaRPr lang="en-US" sz="8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Level set approach (differentiable) </a:t>
            </a:r>
          </a:p>
          <a:p>
            <a:endParaRPr lang="en-US" sz="6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Use </a:t>
            </a:r>
            <a:r>
              <a:rPr lang="en-US" sz="13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Pytorch</a:t>
            </a:r>
            <a:r>
              <a:rPr lang="en-US" sz="13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(</a:t>
            </a:r>
            <a:r>
              <a:rPr lang="en-US" sz="1300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autodiff</a:t>
            </a:r>
            <a:r>
              <a:rPr lang="en-US" sz="13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!)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24813B-105F-C5FB-3F8E-A5BE7E99FF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9885" y="2344063"/>
            <a:ext cx="173659" cy="13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366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936DB-604D-CEE0-D4EC-9E3F4AEB1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21B40-DE6E-FA5D-6EDB-05776A2C9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mappings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51C5A-C1F3-0823-F17A-6078905E3A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97631-3968-4584-CDBD-98A05137D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" y="1551217"/>
            <a:ext cx="1142182" cy="179865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7D5D7E1-074D-CB5F-DC35-23B31B7CAB7B}"/>
              </a:ext>
            </a:extLst>
          </p:cNvPr>
          <p:cNvSpPr/>
          <p:nvPr/>
        </p:nvSpPr>
        <p:spPr>
          <a:xfrm rot="2485708">
            <a:off x="652168" y="3589306"/>
            <a:ext cx="202938" cy="38864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069D476-CC01-9FA2-EBD2-6A5C32954C67}"/>
              </a:ext>
            </a:extLst>
          </p:cNvPr>
          <p:cNvSpPr txBox="1">
            <a:spLocks/>
          </p:cNvSpPr>
          <p:nvPr/>
        </p:nvSpPr>
        <p:spPr>
          <a:xfrm>
            <a:off x="197404" y="863421"/>
            <a:ext cx="1252264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US" dirty="0"/>
              <a:t>Ellipsoid parameters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F4662F1-7E42-D41B-1ABC-B24D5C8D2228}"/>
              </a:ext>
            </a:extLst>
          </p:cNvPr>
          <p:cNvSpPr txBox="1">
            <a:spLocks/>
          </p:cNvSpPr>
          <p:nvPr/>
        </p:nvSpPr>
        <p:spPr>
          <a:xfrm>
            <a:off x="1495874" y="1318802"/>
            <a:ext cx="2242170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None/>
            </a:pPr>
            <a:r>
              <a:rPr lang="en-US" sz="1300" dirty="0"/>
              <a:t>Parametric ellipsoid on global mesh (in active cells)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779E4AC-0942-2846-B0BB-71E8AA5D9256}"/>
              </a:ext>
            </a:extLst>
          </p:cNvPr>
          <p:cNvSpPr txBox="1">
            <a:spLocks/>
          </p:cNvSpPr>
          <p:nvPr/>
        </p:nvSpPr>
        <p:spPr>
          <a:xfrm>
            <a:off x="1495590" y="2992912"/>
            <a:ext cx="2615812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maps.ParametricEllipsoid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marL="114300" indent="0">
              <a:buFont typeface="Helvetica Neue Light"/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global_mesh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marL="114300" indent="0">
              <a:buFont typeface="Helvetica Neue Light"/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active_cells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114300" indent="0">
              <a:buFont typeface="Helvetica Neue Light"/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boundary_sharpness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=10.0)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527EF5-BE9B-E708-F202-3412CBEB7C2D}"/>
              </a:ext>
            </a:extLst>
          </p:cNvPr>
          <p:cNvSpPr txBox="1">
            <a:spLocks/>
          </p:cNvSpPr>
          <p:nvPr/>
        </p:nvSpPr>
        <p:spPr>
          <a:xfrm>
            <a:off x="6126792" y="27226"/>
            <a:ext cx="2380542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 algn="ctr">
              <a:buFont typeface="Helvetica Neue Light"/>
              <a:buNone/>
            </a:pPr>
            <a:endParaRPr lang="en-US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FD89646-7C42-2FA3-0A5D-7F6A61BD11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63" t="23989" r="69447"/>
          <a:stretch>
            <a:fillRect/>
          </a:stretch>
        </p:blipFill>
        <p:spPr>
          <a:xfrm>
            <a:off x="1494074" y="1934109"/>
            <a:ext cx="2243970" cy="11686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6E2A9E-5260-9DBA-25D5-2F1052B8E8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245" t="23989" r="39082"/>
          <a:stretch>
            <a:fillRect/>
          </a:stretch>
        </p:blipFill>
        <p:spPr>
          <a:xfrm>
            <a:off x="3910890" y="1932300"/>
            <a:ext cx="2280952" cy="1168674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032E5AD-0C1C-A70B-9F5C-934B83DB4C8D}"/>
              </a:ext>
            </a:extLst>
          </p:cNvPr>
          <p:cNvSpPr txBox="1">
            <a:spLocks/>
          </p:cNvSpPr>
          <p:nvPr/>
        </p:nvSpPr>
        <p:spPr>
          <a:xfrm>
            <a:off x="4111402" y="1326964"/>
            <a:ext cx="2076845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None/>
            </a:pPr>
            <a:r>
              <a:rPr lang="en-US" sz="1300" dirty="0"/>
              <a:t>Volume-averaged model on local, tile mesh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F3F72F-9ABE-5764-2C03-93EDAD3C1B28}"/>
              </a:ext>
            </a:extLst>
          </p:cNvPr>
          <p:cNvCxnSpPr>
            <a:cxnSpLocks/>
          </p:cNvCxnSpPr>
          <p:nvPr/>
        </p:nvCxnSpPr>
        <p:spPr>
          <a:xfrm>
            <a:off x="1244105" y="2482990"/>
            <a:ext cx="2055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AA36DEF-926D-CB02-8090-2295EA88B1B8}"/>
              </a:ext>
            </a:extLst>
          </p:cNvPr>
          <p:cNvSpPr txBox="1">
            <a:spLocks/>
          </p:cNvSpPr>
          <p:nvPr/>
        </p:nvSpPr>
        <p:spPr>
          <a:xfrm>
            <a:off x="3910890" y="2972170"/>
            <a:ext cx="2615812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maps.TileMap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global_mesh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,     </a:t>
            </a:r>
          </a:p>
          <a:p>
            <a:pPr marL="114300" indent="0">
              <a:buFont typeface="Helvetica Neue Light"/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active_cells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local_mesh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B4FB6B7-8DA6-3E46-A911-62096C966022}"/>
              </a:ext>
            </a:extLst>
          </p:cNvPr>
          <p:cNvCxnSpPr>
            <a:cxnSpLocks/>
          </p:cNvCxnSpPr>
          <p:nvPr/>
        </p:nvCxnSpPr>
        <p:spPr>
          <a:xfrm>
            <a:off x="3656809" y="2423119"/>
            <a:ext cx="2055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44A2407-02EE-EB23-03DA-6B9C2365C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9885" y="2344063"/>
            <a:ext cx="173659" cy="13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276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626A2-5752-4A54-874E-F594ACE3B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D082F-E2DB-84CF-EADB-2EA56C563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mappings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C4588-5901-B800-7DB8-FB0FB740CD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CB01A1-73E5-3D26-12C8-6A4E78B99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" y="1551217"/>
            <a:ext cx="1142182" cy="179865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1D38F393-6888-312A-A5E2-061C1791CF49}"/>
              </a:ext>
            </a:extLst>
          </p:cNvPr>
          <p:cNvSpPr/>
          <p:nvPr/>
        </p:nvSpPr>
        <p:spPr>
          <a:xfrm rot="2485708">
            <a:off x="652168" y="3589306"/>
            <a:ext cx="202938" cy="38864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36B72D2-FCAD-90DB-EC89-9B560B9DD42B}"/>
              </a:ext>
            </a:extLst>
          </p:cNvPr>
          <p:cNvSpPr txBox="1">
            <a:spLocks/>
          </p:cNvSpPr>
          <p:nvPr/>
        </p:nvSpPr>
        <p:spPr>
          <a:xfrm>
            <a:off x="197404" y="863421"/>
            <a:ext cx="1252264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US" dirty="0"/>
              <a:t>Ellipsoid parameters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F8BA373-F6AF-BECA-E0C3-221A0C25DE23}"/>
              </a:ext>
            </a:extLst>
          </p:cNvPr>
          <p:cNvSpPr txBox="1">
            <a:spLocks/>
          </p:cNvSpPr>
          <p:nvPr/>
        </p:nvSpPr>
        <p:spPr>
          <a:xfrm>
            <a:off x="1495874" y="1318802"/>
            <a:ext cx="2242170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None/>
            </a:pPr>
            <a:r>
              <a:rPr lang="en-US" sz="1300" dirty="0"/>
              <a:t>Parametric ellipsoid on global mesh (in active cells)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5A13720-7449-DD37-7131-043319DA39EE}"/>
              </a:ext>
            </a:extLst>
          </p:cNvPr>
          <p:cNvSpPr txBox="1">
            <a:spLocks/>
          </p:cNvSpPr>
          <p:nvPr/>
        </p:nvSpPr>
        <p:spPr>
          <a:xfrm>
            <a:off x="1495590" y="2992912"/>
            <a:ext cx="2615812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maps.ParametricEllipsoid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marL="114300" indent="0">
              <a:buFont typeface="Helvetica Neue Light"/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global_mesh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marL="114300" indent="0">
              <a:buFont typeface="Helvetica Neue Light"/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active_cells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114300" indent="0">
              <a:buFont typeface="Helvetica Neue Light"/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boundary_sharpness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=10.0)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84A131C-7A11-E4F3-250A-668EDE9A9668}"/>
              </a:ext>
            </a:extLst>
          </p:cNvPr>
          <p:cNvSpPr txBox="1">
            <a:spLocks/>
          </p:cNvSpPr>
          <p:nvPr/>
        </p:nvSpPr>
        <p:spPr>
          <a:xfrm>
            <a:off x="6126792" y="27226"/>
            <a:ext cx="2380542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 algn="ctr">
              <a:buFont typeface="Helvetica Neue Light"/>
              <a:buNone/>
            </a:pPr>
            <a:endParaRPr lang="en-US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05C45FB-00B0-0E3C-512B-561E59904C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63" t="23989" r="69447"/>
          <a:stretch>
            <a:fillRect/>
          </a:stretch>
        </p:blipFill>
        <p:spPr>
          <a:xfrm>
            <a:off x="1494074" y="1934109"/>
            <a:ext cx="2243970" cy="11686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986ADD-B25C-CC5D-52FB-484AC9E459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245" t="23989" r="39082"/>
          <a:stretch>
            <a:fillRect/>
          </a:stretch>
        </p:blipFill>
        <p:spPr>
          <a:xfrm>
            <a:off x="3910890" y="1932300"/>
            <a:ext cx="2280952" cy="1168674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5A735ED-EFCE-B0BC-D76D-282C13B0C341}"/>
              </a:ext>
            </a:extLst>
          </p:cNvPr>
          <p:cNvSpPr txBox="1">
            <a:spLocks/>
          </p:cNvSpPr>
          <p:nvPr/>
        </p:nvSpPr>
        <p:spPr>
          <a:xfrm>
            <a:off x="4111402" y="1326964"/>
            <a:ext cx="2076845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None/>
            </a:pPr>
            <a:r>
              <a:rPr lang="en-US" sz="1300" dirty="0"/>
              <a:t>Volume-averaged model on local, tile mesh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DD7016-2C04-E569-4898-4086BB3EBA49}"/>
              </a:ext>
            </a:extLst>
          </p:cNvPr>
          <p:cNvCxnSpPr>
            <a:cxnSpLocks/>
          </p:cNvCxnSpPr>
          <p:nvPr/>
        </p:nvCxnSpPr>
        <p:spPr>
          <a:xfrm>
            <a:off x="1244105" y="2482990"/>
            <a:ext cx="2055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17B8EFA-AF30-FD4D-464A-EFDB6CADD9A9}"/>
              </a:ext>
            </a:extLst>
          </p:cNvPr>
          <p:cNvSpPr txBox="1">
            <a:spLocks/>
          </p:cNvSpPr>
          <p:nvPr/>
        </p:nvSpPr>
        <p:spPr>
          <a:xfrm>
            <a:off x="3910890" y="2972170"/>
            <a:ext cx="2615812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maps.TileMap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global_mesh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,     </a:t>
            </a:r>
          </a:p>
          <a:p>
            <a:pPr marL="114300" indent="0">
              <a:buFont typeface="Helvetica Neue Light"/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active_cells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local_mesh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E23FE6C-BF5F-2FEB-A4EC-D920F4C14B3E}"/>
              </a:ext>
            </a:extLst>
          </p:cNvPr>
          <p:cNvCxnSpPr>
            <a:cxnSpLocks/>
          </p:cNvCxnSpPr>
          <p:nvPr/>
        </p:nvCxnSpPr>
        <p:spPr>
          <a:xfrm>
            <a:off x="7322178" y="2547263"/>
            <a:ext cx="0" cy="4163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C68B3948-CD8A-23B4-05B2-81A71CA1CC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751" t="23989" r="5219"/>
          <a:stretch>
            <a:fillRect/>
          </a:stretch>
        </p:blipFill>
        <p:spPr>
          <a:xfrm>
            <a:off x="6268628" y="1932300"/>
            <a:ext cx="2615813" cy="1168674"/>
          </a:xfrm>
          <a:prstGeom prst="rect">
            <a:avLst/>
          </a:prstGeom>
        </p:spPr>
      </p:pic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5E06737-DDE4-14B7-2B26-508C64ACCB37}"/>
              </a:ext>
            </a:extLst>
          </p:cNvPr>
          <p:cNvSpPr txBox="1">
            <a:spLocks/>
          </p:cNvSpPr>
          <p:nvPr/>
        </p:nvSpPr>
        <p:spPr>
          <a:xfrm>
            <a:off x="6421073" y="3031777"/>
            <a:ext cx="2615812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maps.InjectActiveCells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  </a:t>
            </a:r>
          </a:p>
          <a:p>
            <a:pPr marL="11430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local_mesh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active_cells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569D0F0-21AB-6355-3D58-326654BE75A6}"/>
              </a:ext>
            </a:extLst>
          </p:cNvPr>
          <p:cNvSpPr txBox="1">
            <a:spLocks/>
          </p:cNvSpPr>
          <p:nvPr/>
        </p:nvSpPr>
        <p:spPr>
          <a:xfrm>
            <a:off x="6438782" y="3645275"/>
            <a:ext cx="2615812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maps.ExpMap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local_mesh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25B86D6-97B8-A16C-665F-E697FAD38141}"/>
              </a:ext>
            </a:extLst>
          </p:cNvPr>
          <p:cNvCxnSpPr>
            <a:cxnSpLocks/>
          </p:cNvCxnSpPr>
          <p:nvPr/>
        </p:nvCxnSpPr>
        <p:spPr>
          <a:xfrm>
            <a:off x="3656809" y="2423119"/>
            <a:ext cx="2055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95D725C4-92FE-85F1-BB9C-F6AD64724B88}"/>
              </a:ext>
            </a:extLst>
          </p:cNvPr>
          <p:cNvSpPr txBox="1">
            <a:spLocks/>
          </p:cNvSpPr>
          <p:nvPr/>
        </p:nvSpPr>
        <p:spPr>
          <a:xfrm>
            <a:off x="6421073" y="1275104"/>
            <a:ext cx="2076845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None/>
            </a:pPr>
            <a:r>
              <a:rPr lang="en-US" sz="1300" dirty="0"/>
              <a:t>Include air cells, take exponential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6D8569B-5CE7-DA2B-136E-ED939B92FCB9}"/>
              </a:ext>
            </a:extLst>
          </p:cNvPr>
          <p:cNvCxnSpPr>
            <a:cxnSpLocks/>
          </p:cNvCxnSpPr>
          <p:nvPr/>
        </p:nvCxnSpPr>
        <p:spPr>
          <a:xfrm>
            <a:off x="6091324" y="2423078"/>
            <a:ext cx="2055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E48E99C8-0D37-995E-CEF8-DE2523A3C5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9885" y="2344063"/>
            <a:ext cx="173659" cy="1389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BAC5DF-8C12-B974-1F7F-2A64F330BD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518" y="4381369"/>
            <a:ext cx="77724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431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8B48D-237A-35DE-9910-C8593D12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2D177-5264-36AF-967A-28384F0A8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mappings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1E644-7907-C9DF-1662-3EBF174D2A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19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85F128-CEE4-25F4-B45B-671FF05F6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" y="1551217"/>
            <a:ext cx="1142182" cy="179865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A65490B-4113-73A7-D7FD-1E445830262E}"/>
              </a:ext>
            </a:extLst>
          </p:cNvPr>
          <p:cNvSpPr/>
          <p:nvPr/>
        </p:nvSpPr>
        <p:spPr>
          <a:xfrm rot="2485708">
            <a:off x="652168" y="3589306"/>
            <a:ext cx="202938" cy="38864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1881F3C-C6F1-2A73-45A7-32709E663D9C}"/>
              </a:ext>
            </a:extLst>
          </p:cNvPr>
          <p:cNvSpPr txBox="1">
            <a:spLocks/>
          </p:cNvSpPr>
          <p:nvPr/>
        </p:nvSpPr>
        <p:spPr>
          <a:xfrm>
            <a:off x="197404" y="863421"/>
            <a:ext cx="1252264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US" dirty="0"/>
              <a:t>Ellipsoid parameters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B9D7EE0-B1DB-F2DB-9BB4-2235F35F8820}"/>
              </a:ext>
            </a:extLst>
          </p:cNvPr>
          <p:cNvSpPr txBox="1">
            <a:spLocks/>
          </p:cNvSpPr>
          <p:nvPr/>
        </p:nvSpPr>
        <p:spPr>
          <a:xfrm>
            <a:off x="1495874" y="1318802"/>
            <a:ext cx="2242170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None/>
            </a:pPr>
            <a:r>
              <a:rPr lang="en-US" sz="1300" dirty="0"/>
              <a:t>Parametric ellipsoid on global mesh (in active cells)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7D895B8-487E-D143-89E3-CC98D6CAAD23}"/>
              </a:ext>
            </a:extLst>
          </p:cNvPr>
          <p:cNvSpPr txBox="1">
            <a:spLocks/>
          </p:cNvSpPr>
          <p:nvPr/>
        </p:nvSpPr>
        <p:spPr>
          <a:xfrm>
            <a:off x="1495590" y="2992912"/>
            <a:ext cx="2615812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maps.ParametricEllipsoid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marL="114300" indent="0">
              <a:buFont typeface="Helvetica Neue Light"/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global_mesh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marL="114300" indent="0">
              <a:buFont typeface="Helvetica Neue Light"/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active_cells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114300" indent="0">
              <a:buFont typeface="Helvetica Neue Light"/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boundary_sharpness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=10.0)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13CE557-1703-C2C1-66B6-379C95C3439C}"/>
              </a:ext>
            </a:extLst>
          </p:cNvPr>
          <p:cNvSpPr txBox="1">
            <a:spLocks/>
          </p:cNvSpPr>
          <p:nvPr/>
        </p:nvSpPr>
        <p:spPr>
          <a:xfrm>
            <a:off x="6126792" y="27226"/>
            <a:ext cx="2380542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 algn="ctr">
              <a:buFont typeface="Helvetica Neue Light"/>
              <a:buNone/>
            </a:pPr>
            <a:endParaRPr lang="en-US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FF6ABC8-0ECF-2CEC-D802-8D39043B00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63" t="23989" r="69447"/>
          <a:stretch>
            <a:fillRect/>
          </a:stretch>
        </p:blipFill>
        <p:spPr>
          <a:xfrm>
            <a:off x="1494074" y="1934109"/>
            <a:ext cx="2243970" cy="11686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14BE21-C943-F2C3-901C-9295EAD4F0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245" t="23989" r="39082"/>
          <a:stretch>
            <a:fillRect/>
          </a:stretch>
        </p:blipFill>
        <p:spPr>
          <a:xfrm>
            <a:off x="3910890" y="1932300"/>
            <a:ext cx="2280952" cy="1168674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BF2B38D-C2F3-EF0E-3D5D-8E69259C7A6B}"/>
              </a:ext>
            </a:extLst>
          </p:cNvPr>
          <p:cNvSpPr txBox="1">
            <a:spLocks/>
          </p:cNvSpPr>
          <p:nvPr/>
        </p:nvSpPr>
        <p:spPr>
          <a:xfrm>
            <a:off x="4111402" y="1326964"/>
            <a:ext cx="2076845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None/>
            </a:pPr>
            <a:r>
              <a:rPr lang="en-US" sz="1300" dirty="0"/>
              <a:t>Volume-averaged model on local, tile mesh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A77E363-DBF5-84F6-3BDB-AC3D71E43A03}"/>
              </a:ext>
            </a:extLst>
          </p:cNvPr>
          <p:cNvCxnSpPr>
            <a:cxnSpLocks/>
          </p:cNvCxnSpPr>
          <p:nvPr/>
        </p:nvCxnSpPr>
        <p:spPr>
          <a:xfrm>
            <a:off x="1244105" y="2482990"/>
            <a:ext cx="2055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A64D92F-2A8B-C077-4047-1C8B7A0F2AD5}"/>
              </a:ext>
            </a:extLst>
          </p:cNvPr>
          <p:cNvSpPr txBox="1">
            <a:spLocks/>
          </p:cNvSpPr>
          <p:nvPr/>
        </p:nvSpPr>
        <p:spPr>
          <a:xfrm>
            <a:off x="3910890" y="2972170"/>
            <a:ext cx="2615812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maps.TileMap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global_mesh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,     </a:t>
            </a:r>
          </a:p>
          <a:p>
            <a:pPr marL="114300" indent="0">
              <a:buFont typeface="Helvetica Neue Light"/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active_cells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local_mesh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CD659B-E1D6-6A04-7F9D-F815B53B3905}"/>
              </a:ext>
            </a:extLst>
          </p:cNvPr>
          <p:cNvCxnSpPr>
            <a:cxnSpLocks/>
          </p:cNvCxnSpPr>
          <p:nvPr/>
        </p:nvCxnSpPr>
        <p:spPr>
          <a:xfrm>
            <a:off x="7322178" y="2547263"/>
            <a:ext cx="0" cy="4163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83FFFEC9-C596-4CFF-FAAD-092E022D38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751" t="23989" r="5219"/>
          <a:stretch>
            <a:fillRect/>
          </a:stretch>
        </p:blipFill>
        <p:spPr>
          <a:xfrm>
            <a:off x="6268628" y="1932300"/>
            <a:ext cx="2615813" cy="1168674"/>
          </a:xfrm>
          <a:prstGeom prst="rect">
            <a:avLst/>
          </a:prstGeom>
        </p:spPr>
      </p:pic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62148AE-80CE-6869-8AC6-C97969405A07}"/>
              </a:ext>
            </a:extLst>
          </p:cNvPr>
          <p:cNvSpPr txBox="1">
            <a:spLocks/>
          </p:cNvSpPr>
          <p:nvPr/>
        </p:nvSpPr>
        <p:spPr>
          <a:xfrm>
            <a:off x="6421073" y="3031777"/>
            <a:ext cx="2615812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maps.InjectActiveCells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  </a:t>
            </a:r>
          </a:p>
          <a:p>
            <a:pPr marL="114300" indent="0">
              <a:buNone/>
            </a:pP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local_mesh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active_cells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A144BD0-CF18-EAE1-04BF-42EF07A5FD8A}"/>
              </a:ext>
            </a:extLst>
          </p:cNvPr>
          <p:cNvSpPr txBox="1">
            <a:spLocks/>
          </p:cNvSpPr>
          <p:nvPr/>
        </p:nvSpPr>
        <p:spPr>
          <a:xfrm>
            <a:off x="6438782" y="3645275"/>
            <a:ext cx="2615812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None/>
            </a:pP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maps.ExpMap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local_mesh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D6A2831-4799-FF54-99AB-CB80DACBCA8D}"/>
              </a:ext>
            </a:extLst>
          </p:cNvPr>
          <p:cNvCxnSpPr>
            <a:cxnSpLocks/>
          </p:cNvCxnSpPr>
          <p:nvPr/>
        </p:nvCxnSpPr>
        <p:spPr>
          <a:xfrm>
            <a:off x="3656809" y="2423119"/>
            <a:ext cx="2055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ECCCE57-0891-41D8-D849-6C219C0923DF}"/>
              </a:ext>
            </a:extLst>
          </p:cNvPr>
          <p:cNvSpPr txBox="1">
            <a:spLocks/>
          </p:cNvSpPr>
          <p:nvPr/>
        </p:nvSpPr>
        <p:spPr>
          <a:xfrm>
            <a:off x="6421073" y="1275104"/>
            <a:ext cx="2076845" cy="613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None/>
            </a:pPr>
            <a:r>
              <a:rPr lang="en-US" sz="1300" dirty="0"/>
              <a:t>Include air cells, take exponential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86F6ED1-1397-C9B9-1E40-54D0CBB85DA6}"/>
              </a:ext>
            </a:extLst>
          </p:cNvPr>
          <p:cNvCxnSpPr>
            <a:cxnSpLocks/>
          </p:cNvCxnSpPr>
          <p:nvPr/>
        </p:nvCxnSpPr>
        <p:spPr>
          <a:xfrm>
            <a:off x="6091324" y="2423078"/>
            <a:ext cx="2055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047C8281-474F-D24D-4196-FF9C1201DE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9885" y="2344063"/>
            <a:ext cx="173659" cy="138927"/>
          </a:xfrm>
          <a:prstGeom prst="rect">
            <a:avLst/>
          </a:prstGeom>
        </p:spPr>
      </p:pic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434ED81-4655-0BF4-C528-D1FC82C7F384}"/>
              </a:ext>
            </a:extLst>
          </p:cNvPr>
          <p:cNvSpPr/>
          <p:nvPr/>
        </p:nvSpPr>
        <p:spPr>
          <a:xfrm>
            <a:off x="5680824" y="243769"/>
            <a:ext cx="3272478" cy="61349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Also need sensitivities! </a:t>
            </a:r>
          </a:p>
          <a:p>
            <a:pPr algn="ctr"/>
            <a:r>
              <a:rPr lang="en-US" sz="1300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Chain rule. 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BE31123-878E-860A-3A3D-559CA85DF4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082" y="4165789"/>
            <a:ext cx="7772400" cy="80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155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C2C2F-D98A-38A1-EE2D-ECBD27F28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meta-simulations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2A4D3-5A87-5A63-9557-61F4E64BE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04075"/>
            <a:ext cx="8520600" cy="36648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book-keeping and parallelization for full forward simulation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two approaches (currently)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Multiprocessing: </a:t>
            </a:r>
            <a:r>
              <a:rPr lang="en-US" dirty="0">
                <a:latin typeface="Helvetica Light" panose="020B0403020202020204" pitchFamily="34" charset="0"/>
                <a:cs typeface="Consolas" panose="020B0609020204030204" pitchFamily="49" charset="0"/>
              </a:rPr>
              <a:t>python’s built in multi-threading (single node) 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Dask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Consolas" panose="020B0609020204030204" pitchFamily="49" charset="0"/>
              </a:rPr>
              <a:t>can parallelize across nodes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4F609-FE60-31E0-A157-B501C19143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20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C1209F-3795-21E3-559E-ACF540860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0" y="1489356"/>
            <a:ext cx="25400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773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F6D50-FB0F-BD81-4932-10333F4BC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D69E2-FD0D-52CD-1D45-1BAEFCEFF0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21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DA0A7C-02AF-34CE-C253-DC5CB77D1971}"/>
              </a:ext>
            </a:extLst>
          </p:cNvPr>
          <p:cNvSpPr txBox="1"/>
          <p:nvPr/>
        </p:nvSpPr>
        <p:spPr>
          <a:xfrm>
            <a:off x="1581320" y="445934"/>
            <a:ext cx="667113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300" dirty="0">
                <a:solidFill>
                  <a:srgbClr val="008000"/>
                </a:solidFill>
                <a:latin typeface="Consolas"/>
              </a:rPr>
              <a:t># source-dependent meshes  (tiles by transmitter)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simulations, mappings = [], []</a:t>
            </a:r>
          </a:p>
          <a:p>
            <a:r>
              <a:rPr lang="en-CA" sz="1300" dirty="0">
                <a:solidFill>
                  <a:schemeClr val="accent1">
                    <a:lumMod val="50000"/>
                  </a:schemeClr>
                </a:solidFill>
                <a:latin typeface="Consolas"/>
              </a:rPr>
              <a:t>for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src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 in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survey.source_list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:</a:t>
            </a:r>
          </a:p>
          <a:p>
            <a:endParaRPr lang="en-CA" sz="1300" dirty="0">
              <a:solidFill>
                <a:srgbClr val="00800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487750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AECA9-D271-C019-57D8-01C0E48DA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4F8A0-3F6C-557D-515A-68D03986BD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22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EC4D46-2EF2-5DF0-86B6-31054216921E}"/>
              </a:ext>
            </a:extLst>
          </p:cNvPr>
          <p:cNvSpPr txBox="1"/>
          <p:nvPr/>
        </p:nvSpPr>
        <p:spPr>
          <a:xfrm>
            <a:off x="1581320" y="445934"/>
            <a:ext cx="667113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300" dirty="0">
                <a:solidFill>
                  <a:srgbClr val="008000"/>
                </a:solidFill>
                <a:latin typeface="Consolas"/>
              </a:rPr>
              <a:t># source-dependent meshes  (tiles by transmitter)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simulations, mappings = [], []</a:t>
            </a:r>
          </a:p>
          <a:p>
            <a:r>
              <a:rPr lang="en-CA" sz="1300" dirty="0">
                <a:solidFill>
                  <a:schemeClr val="accent1">
                    <a:lumMod val="50000"/>
                  </a:schemeClr>
                </a:solidFill>
                <a:latin typeface="Consolas"/>
              </a:rPr>
              <a:t>for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src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 in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survey.source_list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: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   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local_mesh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 =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build_local_mesh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(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src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,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refine_depth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=300)</a:t>
            </a:r>
          </a:p>
          <a:p>
            <a:endParaRPr lang="en-CA" sz="1300" dirty="0">
              <a:solidFill>
                <a:srgbClr val="008000"/>
              </a:solidFill>
              <a:latin typeface="Consolas"/>
            </a:endParaRPr>
          </a:p>
          <a:p>
            <a:r>
              <a:rPr lang="en-CA" sz="1300" dirty="0">
                <a:solidFill>
                  <a:srgbClr val="008000"/>
                </a:solidFill>
                <a:latin typeface="Consolas"/>
              </a:rPr>
              <a:t>    </a:t>
            </a:r>
            <a:endParaRPr lang="en-CA" sz="1300" dirty="0">
              <a:solidFill>
                <a:schemeClr val="tx1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070355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539B-7BEA-0606-9BF3-D62F27393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8D8AD-FD97-1CDA-6B3D-24DBCCCCBF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23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ED5260-5439-68BD-BDFA-FD8728900EB9}"/>
              </a:ext>
            </a:extLst>
          </p:cNvPr>
          <p:cNvSpPr txBox="1"/>
          <p:nvPr/>
        </p:nvSpPr>
        <p:spPr>
          <a:xfrm>
            <a:off x="1581320" y="445934"/>
            <a:ext cx="6671139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300" dirty="0">
                <a:solidFill>
                  <a:srgbClr val="008000"/>
                </a:solidFill>
                <a:latin typeface="Consolas"/>
              </a:rPr>
              <a:t># source-dependent meshes  (tiles by transmitter)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simulations, mappings = [], []</a:t>
            </a:r>
          </a:p>
          <a:p>
            <a:r>
              <a:rPr lang="en-CA" sz="1300" dirty="0">
                <a:solidFill>
                  <a:schemeClr val="accent1">
                    <a:lumMod val="50000"/>
                  </a:schemeClr>
                </a:solidFill>
                <a:latin typeface="Consolas"/>
              </a:rPr>
              <a:t>for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src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 in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survey.source_list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: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   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local_mesh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 =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build_local_mesh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(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src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,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refine_depth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=300)</a:t>
            </a:r>
          </a:p>
          <a:p>
            <a:endParaRPr lang="en-CA" sz="1300" dirty="0">
              <a:solidFill>
                <a:srgbClr val="008000"/>
              </a:solidFill>
              <a:latin typeface="Consolas"/>
            </a:endParaRPr>
          </a:p>
          <a:p>
            <a:r>
              <a:rPr lang="en-CA" sz="1300" dirty="0">
                <a:solidFill>
                  <a:srgbClr val="008000"/>
                </a:solidFill>
                <a:latin typeface="Consolas"/>
              </a:rPr>
              <a:t>    # the mapping carries (and volume-averages) the model</a:t>
            </a:r>
          </a:p>
          <a:p>
            <a:r>
              <a:rPr lang="en-CA" sz="1300" dirty="0">
                <a:solidFill>
                  <a:srgbClr val="008000"/>
                </a:solidFill>
                <a:latin typeface="Consolas"/>
              </a:rPr>
              <a:t>    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tile =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TileMap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(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global_mesh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,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active_cells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,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local_mesh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)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   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mappings.append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(tile)</a:t>
            </a:r>
          </a:p>
          <a:p>
            <a:endParaRPr lang="en-CA" sz="1300" dirty="0">
              <a:solidFill>
                <a:srgbClr val="00800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118537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0BDFD-8399-410A-AD81-C8BCF4070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A38A1-7618-819C-C403-47736617EA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24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2225CC-0FF4-74B1-9661-CB3ADF0809A2}"/>
              </a:ext>
            </a:extLst>
          </p:cNvPr>
          <p:cNvSpPr txBox="1"/>
          <p:nvPr/>
        </p:nvSpPr>
        <p:spPr>
          <a:xfrm>
            <a:off x="1581320" y="445934"/>
            <a:ext cx="667113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300" dirty="0">
                <a:solidFill>
                  <a:srgbClr val="008000"/>
                </a:solidFill>
                <a:latin typeface="Consolas"/>
              </a:rPr>
              <a:t># source-dependent meshes  (tiles by transmitter)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simulations, mappings = [], []</a:t>
            </a:r>
          </a:p>
          <a:p>
            <a:r>
              <a:rPr lang="en-CA" sz="1300" dirty="0">
                <a:solidFill>
                  <a:schemeClr val="accent1">
                    <a:lumMod val="50000"/>
                  </a:schemeClr>
                </a:solidFill>
                <a:latin typeface="Consolas"/>
              </a:rPr>
              <a:t>for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src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 in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survey.source_list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: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   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local_mesh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 =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build_local_mesh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(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src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,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refine_depth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=300)</a:t>
            </a:r>
          </a:p>
          <a:p>
            <a:endParaRPr lang="en-CA" sz="1300" dirty="0">
              <a:solidFill>
                <a:srgbClr val="008000"/>
              </a:solidFill>
              <a:latin typeface="Consolas"/>
            </a:endParaRPr>
          </a:p>
          <a:p>
            <a:r>
              <a:rPr lang="en-CA" sz="1300" dirty="0">
                <a:solidFill>
                  <a:srgbClr val="008000"/>
                </a:solidFill>
                <a:latin typeface="Consolas"/>
              </a:rPr>
              <a:t>    # the mapping carries (and volume-averages) the model</a:t>
            </a:r>
          </a:p>
          <a:p>
            <a:r>
              <a:rPr lang="en-CA" sz="1300" dirty="0">
                <a:solidFill>
                  <a:srgbClr val="008000"/>
                </a:solidFill>
                <a:latin typeface="Consolas"/>
              </a:rPr>
              <a:t>    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tile =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TileMap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(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global_mesh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,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active_cells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,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local_mesh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)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   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mappings.append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(tile)</a:t>
            </a:r>
          </a:p>
          <a:p>
            <a:endParaRPr lang="en-CA" sz="1300" dirty="0">
              <a:solidFill>
                <a:srgbClr val="008000"/>
              </a:solidFill>
              <a:latin typeface="Consolas"/>
            </a:endParaRPr>
          </a:p>
          <a:p>
            <a:r>
              <a:rPr lang="en-CA" sz="1300" dirty="0">
                <a:solidFill>
                  <a:srgbClr val="008000"/>
                </a:solidFill>
                <a:latin typeface="Consolas"/>
              </a:rPr>
              <a:t>    # a standard </a:t>
            </a:r>
            <a:r>
              <a:rPr lang="en-CA" sz="1300" dirty="0" err="1">
                <a:solidFill>
                  <a:srgbClr val="008000"/>
                </a:solidFill>
                <a:latin typeface="Consolas"/>
              </a:rPr>
              <a:t>SimPEG</a:t>
            </a:r>
            <a:r>
              <a:rPr lang="en-CA" sz="1300" dirty="0">
                <a:solidFill>
                  <a:srgbClr val="008000"/>
                </a:solidFill>
                <a:latin typeface="Consolas"/>
              </a:rPr>
              <a:t> TDEM simulation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   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simulations.append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(Simulation3DElectricField(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       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local_mesh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,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        survey=Survey([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src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]),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       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time_steps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=[(3e-6, 20), (1e-5, 20), (3e-5, 20), (1e-4, 20)],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       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sigmaMap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=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expmap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 *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active_cells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 *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ellipsoid_mapping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,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185040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93E43-4E7F-0864-C1DA-2D9482D1D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D880B-F7C4-6E30-521A-25F546A0B4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25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291F6C-55F7-76BE-1BC3-148096AFEBC0}"/>
              </a:ext>
            </a:extLst>
          </p:cNvPr>
          <p:cNvSpPr txBox="1"/>
          <p:nvPr/>
        </p:nvSpPr>
        <p:spPr>
          <a:xfrm>
            <a:off x="1581320" y="445934"/>
            <a:ext cx="667113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300" dirty="0">
                <a:solidFill>
                  <a:srgbClr val="008000"/>
                </a:solidFill>
                <a:latin typeface="Consolas"/>
              </a:rPr>
              <a:t># source-dependent meshes  (tiles by transmitter)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simulations, mappings = [], []</a:t>
            </a:r>
          </a:p>
          <a:p>
            <a:r>
              <a:rPr lang="en-CA" sz="1300" dirty="0">
                <a:solidFill>
                  <a:schemeClr val="accent1">
                    <a:lumMod val="50000"/>
                  </a:schemeClr>
                </a:solidFill>
                <a:latin typeface="Consolas"/>
              </a:rPr>
              <a:t>for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src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 in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survey.source_list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: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   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local_mesh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 =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build_local_mesh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(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src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,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refine_depth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=300)</a:t>
            </a:r>
          </a:p>
          <a:p>
            <a:endParaRPr lang="en-CA" sz="1300" dirty="0">
              <a:solidFill>
                <a:srgbClr val="008000"/>
              </a:solidFill>
              <a:latin typeface="Consolas"/>
            </a:endParaRPr>
          </a:p>
          <a:p>
            <a:r>
              <a:rPr lang="en-CA" sz="1300" dirty="0">
                <a:solidFill>
                  <a:srgbClr val="008000"/>
                </a:solidFill>
                <a:latin typeface="Consolas"/>
              </a:rPr>
              <a:t>    # the mapping carries (and volume-averages) the model</a:t>
            </a:r>
          </a:p>
          <a:p>
            <a:r>
              <a:rPr lang="en-CA" sz="1300" dirty="0">
                <a:solidFill>
                  <a:srgbClr val="008000"/>
                </a:solidFill>
                <a:latin typeface="Consolas"/>
              </a:rPr>
              <a:t>    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tile =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TileMap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(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global_mesh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,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active_cells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,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local_mesh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)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   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mappings.append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(tile)</a:t>
            </a:r>
          </a:p>
          <a:p>
            <a:endParaRPr lang="en-CA" sz="1300" dirty="0">
              <a:solidFill>
                <a:srgbClr val="008000"/>
              </a:solidFill>
              <a:latin typeface="Consolas"/>
            </a:endParaRPr>
          </a:p>
          <a:p>
            <a:r>
              <a:rPr lang="en-CA" sz="1300" dirty="0">
                <a:solidFill>
                  <a:srgbClr val="008000"/>
                </a:solidFill>
                <a:latin typeface="Consolas"/>
              </a:rPr>
              <a:t>    # a standard </a:t>
            </a:r>
            <a:r>
              <a:rPr lang="en-CA" sz="1300" dirty="0" err="1">
                <a:solidFill>
                  <a:srgbClr val="008000"/>
                </a:solidFill>
                <a:latin typeface="Consolas"/>
              </a:rPr>
              <a:t>SimPEG</a:t>
            </a:r>
            <a:r>
              <a:rPr lang="en-CA" sz="1300" dirty="0">
                <a:solidFill>
                  <a:srgbClr val="008000"/>
                </a:solidFill>
                <a:latin typeface="Consolas"/>
              </a:rPr>
              <a:t> TDEM simulation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   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simulations.append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(Simulation3DElectricField(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       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local_mesh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,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        survey=Survey([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src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]),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       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time_steps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=[(3e-6, 20), (1e-5, 20), (3e-5, 20), (1e-4, 20)],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       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sigmaMap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=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expmap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 *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active_cells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 *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ellipsoid_mapping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,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    )</a:t>
            </a:r>
          </a:p>
          <a:p>
            <a:endParaRPr lang="en-CA" sz="1300" dirty="0">
              <a:solidFill>
                <a:srgbClr val="008000"/>
              </a:solidFill>
              <a:latin typeface="Consolas"/>
            </a:endParaRPr>
          </a:p>
          <a:p>
            <a:r>
              <a:rPr lang="en-CA" sz="1300" dirty="0">
                <a:solidFill>
                  <a:srgbClr val="008000"/>
                </a:solidFill>
                <a:latin typeface="Consolas"/>
              </a:rPr>
              <a:t># compose: behaves like ONE simulation</a:t>
            </a:r>
          </a:p>
          <a:p>
            <a:r>
              <a:rPr lang="en-CA" sz="1300" dirty="0">
                <a:solidFill>
                  <a:schemeClr val="tx1"/>
                </a:solidFill>
                <a:latin typeface="Consolas"/>
              </a:rPr>
              <a:t>sim =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MultiprocessingMetaSimulation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(simulations, mappings) </a:t>
            </a:r>
          </a:p>
          <a:p>
            <a:r>
              <a:rPr lang="en-CA" sz="1300" dirty="0" err="1">
                <a:solidFill>
                  <a:schemeClr val="tx1"/>
                </a:solidFill>
                <a:latin typeface="Consolas"/>
              </a:rPr>
              <a:t>dpred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 = </a:t>
            </a:r>
            <a:r>
              <a:rPr lang="en-CA" sz="1300" dirty="0" err="1">
                <a:solidFill>
                  <a:schemeClr val="tx1"/>
                </a:solidFill>
                <a:latin typeface="Consolas"/>
              </a:rPr>
              <a:t>sim.dpred</a:t>
            </a:r>
            <a:r>
              <a:rPr lang="en-CA" sz="1300" dirty="0">
                <a:solidFill>
                  <a:schemeClr val="tx1"/>
                </a:solidFill>
                <a:latin typeface="Consolas"/>
              </a:rPr>
              <a:t>(model) </a:t>
            </a:r>
            <a:r>
              <a:rPr lang="en-CA" sz="1300" dirty="0">
                <a:solidFill>
                  <a:srgbClr val="008000"/>
                </a:solidFill>
                <a:latin typeface="Consolas"/>
              </a:rPr>
              <a:t># </a:t>
            </a:r>
            <a:r>
              <a:rPr lang="en-CA" sz="1300" dirty="0" err="1">
                <a:solidFill>
                  <a:srgbClr val="008000"/>
                </a:solidFill>
                <a:latin typeface="Consolas"/>
              </a:rPr>
              <a:t>Jvec</a:t>
            </a:r>
            <a:r>
              <a:rPr lang="en-CA" sz="1300" dirty="0">
                <a:solidFill>
                  <a:srgbClr val="008000"/>
                </a:solidFill>
                <a:latin typeface="Consolas"/>
              </a:rPr>
              <a:t> / </a:t>
            </a:r>
            <a:r>
              <a:rPr lang="en-CA" sz="1300" dirty="0" err="1">
                <a:solidFill>
                  <a:srgbClr val="008000"/>
                </a:solidFill>
                <a:latin typeface="Consolas"/>
              </a:rPr>
              <a:t>Jtvec</a:t>
            </a:r>
            <a:r>
              <a:rPr lang="en-CA" sz="1300" dirty="0">
                <a:solidFill>
                  <a:srgbClr val="008000"/>
                </a:solidFill>
                <a:latin typeface="Consolas"/>
              </a:rPr>
              <a:t> too</a:t>
            </a:r>
          </a:p>
        </p:txBody>
      </p:sp>
    </p:spTree>
    <p:extLst>
      <p:ext uri="{BB962C8B-B14F-4D97-AF65-F5344CB8AC3E}">
        <p14:creationId xmlns:p14="http://schemas.microsoft.com/office/powerpoint/2010/main" val="2408101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75AE9-5656-4261-7047-A2ED9B46D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computational savings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C3C08-D80C-5F71-DF79-E29A12766C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677E3-D1D7-93BF-53C3-D623E989DA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698" t="18380" r="26945" b="3183"/>
          <a:stretch>
            <a:fillRect/>
          </a:stretch>
        </p:blipFill>
        <p:spPr>
          <a:xfrm>
            <a:off x="643170" y="2170034"/>
            <a:ext cx="3074671" cy="2766183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C08C22C-3C10-537A-FF44-F679E8148335}"/>
              </a:ext>
            </a:extLst>
          </p:cNvPr>
          <p:cNvSpPr txBox="1">
            <a:spLocks/>
          </p:cNvSpPr>
          <p:nvPr/>
        </p:nvSpPr>
        <p:spPr>
          <a:xfrm>
            <a:off x="311700" y="904075"/>
            <a:ext cx="4506106" cy="156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US" b="1" dirty="0"/>
              <a:t>Global mesh </a:t>
            </a:r>
          </a:p>
          <a:p>
            <a:pPr marL="114300" indent="0">
              <a:buFont typeface="Helvetica Neue Light"/>
              <a:buNone/>
            </a:pPr>
            <a:r>
              <a:rPr lang="en-US" dirty="0"/>
              <a:t>50,000 cells; 90s per simulation</a:t>
            </a:r>
          </a:p>
          <a:p>
            <a:pPr marL="114300" indent="0">
              <a:buFont typeface="Helvetica Neue Light"/>
              <a:buNone/>
            </a:pPr>
            <a:r>
              <a:rPr lang="en-US" dirty="0"/>
              <a:t>~ 5 hours for 10 inversion iterations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30C7F4-9A29-6329-B500-43BA6245DA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176" t="14415" r="19874" b="3303"/>
          <a:stretch/>
        </p:blipFill>
        <p:spPr>
          <a:xfrm>
            <a:off x="4890779" y="2040370"/>
            <a:ext cx="3859115" cy="29017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AC6249-1CA8-A9CD-B368-19B2FB55C63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31" b="57478"/>
          <a:stretch/>
        </p:blipFill>
        <p:spPr>
          <a:xfrm flipH="1">
            <a:off x="6271253" y="2481719"/>
            <a:ext cx="1114535" cy="727275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62042ED-70A9-5E8F-EDE1-C98EBEEABA82}"/>
              </a:ext>
            </a:extLst>
          </p:cNvPr>
          <p:cNvSpPr txBox="1">
            <a:spLocks/>
          </p:cNvSpPr>
          <p:nvPr/>
        </p:nvSpPr>
        <p:spPr>
          <a:xfrm>
            <a:off x="4240702" y="904075"/>
            <a:ext cx="4506106" cy="156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US" b="1" dirty="0"/>
              <a:t>Tiled approach</a:t>
            </a:r>
          </a:p>
          <a:p>
            <a:pPr marL="114300" indent="0">
              <a:buNone/>
            </a:pPr>
            <a:r>
              <a:rPr lang="en-CA" dirty="0"/>
              <a:t>5,500</a:t>
            </a:r>
            <a:r>
              <a:rPr lang="en-US" dirty="0"/>
              <a:t> cells per tile; 3s per simulation</a:t>
            </a:r>
          </a:p>
          <a:p>
            <a:pPr marL="114300" indent="0">
              <a:buFont typeface="Helvetica Neue Light"/>
              <a:buNone/>
            </a:pPr>
            <a:r>
              <a:rPr lang="en-US" dirty="0"/>
              <a:t>~ 10 min for 10 iterations in an inversion</a:t>
            </a:r>
          </a:p>
        </p:txBody>
      </p:sp>
    </p:spTree>
    <p:extLst>
      <p:ext uri="{BB962C8B-B14F-4D97-AF65-F5344CB8AC3E}">
        <p14:creationId xmlns:p14="http://schemas.microsoft.com/office/powerpoint/2010/main" val="18939225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B1DAD-0E72-7628-B05B-B1D7B1D96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meta-simulations more broadly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AC336-5E6B-63C9-4C8F-B528395A5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Works with any </a:t>
            </a:r>
            <a:r>
              <a:rPr lang="en-US" dirty="0" err="1"/>
              <a:t>SimPEG</a:t>
            </a:r>
            <a:r>
              <a:rPr lang="en-US" dirty="0"/>
              <a:t> simulation type</a:t>
            </a:r>
          </a:p>
          <a:p>
            <a:r>
              <a:rPr lang="en-US" dirty="0"/>
              <a:t>In natural-source / FDEM methods: parallelize over frequency + tiling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Flexible &amp; extensible  </a:t>
            </a:r>
          </a:p>
          <a:p>
            <a:r>
              <a:rPr lang="en-US" dirty="0"/>
              <a:t>Could be used with different time stepping strategies (Yang &amp; Oldenburg, 2016)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DFAB0-F1A9-8D23-D9F4-9B7EB2742A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CCD15B-CE5F-8F97-1567-B732ACEBD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820670"/>
            <a:ext cx="5486400" cy="16510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4935590-DE5F-3A7B-F23A-81515188B2A8}"/>
              </a:ext>
            </a:extLst>
          </p:cNvPr>
          <p:cNvSpPr txBox="1">
            <a:spLocks/>
          </p:cNvSpPr>
          <p:nvPr/>
        </p:nvSpPr>
        <p:spPr>
          <a:xfrm>
            <a:off x="2251710" y="4875203"/>
            <a:ext cx="6580590" cy="29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CA" sz="700" dirty="0"/>
              <a:t>Yang, D., Oldenburg, D.W., 2016. Survey decomposition : A scalable framework for 3D controlled-source electromagnetic inversion. Geophysics 81, E69–E87.</a:t>
            </a:r>
          </a:p>
        </p:txBody>
      </p:sp>
    </p:spTree>
    <p:extLst>
      <p:ext uri="{BB962C8B-B14F-4D97-AF65-F5344CB8AC3E}">
        <p14:creationId xmlns:p14="http://schemas.microsoft.com/office/powerpoint/2010/main" val="2118477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B77DD-D6B7-2CE5-01D2-4898401A0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modular. can be combined with other advanced inversions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61074-C1AA-9933-BDFC-2DC1B2706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751" y="789125"/>
            <a:ext cx="2214330" cy="5727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1400" dirty="0" err="1"/>
              <a:t>Lp</a:t>
            </a:r>
            <a:r>
              <a:rPr lang="en-US" sz="1400" dirty="0"/>
              <a:t> norms (Fournier et al)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B93ED-E50D-FE6C-9FCB-1D1931F88F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28</a:t>
            </a:fld>
            <a:endParaRPr lang="en-GB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8583CBD-3199-34C0-686A-DEFCC5C803B0}"/>
              </a:ext>
            </a:extLst>
          </p:cNvPr>
          <p:cNvSpPr txBox="1">
            <a:spLocks/>
          </p:cNvSpPr>
          <p:nvPr/>
        </p:nvSpPr>
        <p:spPr>
          <a:xfrm>
            <a:off x="711751" y="2580015"/>
            <a:ext cx="3048720" cy="116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US" sz="1400" dirty="0" err="1"/>
              <a:t>Petrophysically</a:t>
            </a:r>
            <a:r>
              <a:rPr lang="en-US" sz="1400" dirty="0"/>
              <a:t> and </a:t>
            </a:r>
            <a:r>
              <a:rPr lang="en-US" sz="1400" dirty="0" err="1"/>
              <a:t>geolocially</a:t>
            </a:r>
            <a:r>
              <a:rPr lang="en-US" sz="1400" dirty="0"/>
              <a:t> guided inversion (</a:t>
            </a:r>
            <a:r>
              <a:rPr lang="en-US" sz="1400" dirty="0" err="1"/>
              <a:t>Astic</a:t>
            </a:r>
            <a:r>
              <a:rPr lang="en-US" sz="1400" dirty="0"/>
              <a:t> et al)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76D80C6-7225-D633-DBBA-229C144C6DA6}"/>
              </a:ext>
            </a:extLst>
          </p:cNvPr>
          <p:cNvSpPr txBox="1">
            <a:spLocks/>
          </p:cNvSpPr>
          <p:nvPr/>
        </p:nvSpPr>
        <p:spPr>
          <a:xfrm>
            <a:off x="4572000" y="699889"/>
            <a:ext cx="3926354" cy="116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US" sz="1400" dirty="0"/>
              <a:t>Parametric inversions with RBFs (</a:t>
            </a:r>
            <a:r>
              <a:rPr lang="en-US" sz="1400" dirty="0" err="1"/>
              <a:t>Pokar</a:t>
            </a:r>
            <a:r>
              <a:rPr lang="en-US" sz="1400" dirty="0"/>
              <a:t> et al) 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DCCA365-7F63-2CD4-9CEA-DC62ED8C0A87}"/>
              </a:ext>
            </a:extLst>
          </p:cNvPr>
          <p:cNvSpPr txBox="1">
            <a:spLocks/>
          </p:cNvSpPr>
          <p:nvPr/>
        </p:nvSpPr>
        <p:spPr>
          <a:xfrm>
            <a:off x="4468285" y="2939736"/>
            <a:ext cx="3926355" cy="116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 Light"/>
              <a:buChar char="●"/>
              <a:defRPr sz="1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●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○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 Light"/>
              <a:buChar char="■"/>
              <a:defRPr sz="14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114300" indent="0">
              <a:buFont typeface="Helvetica Neue Light"/>
              <a:buNone/>
            </a:pPr>
            <a:r>
              <a:rPr lang="en-US" sz="1400" dirty="0"/>
              <a:t>Segmentation-guided inversion (</a:t>
            </a:r>
            <a:r>
              <a:rPr lang="en-US" sz="1400" dirty="0" err="1"/>
              <a:t>Kuttai</a:t>
            </a:r>
            <a:r>
              <a:rPr lang="en-US" sz="1400" dirty="0"/>
              <a:t> et al)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53E994-320C-C7AA-1246-D179E9A99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214" y="3081491"/>
            <a:ext cx="791404" cy="800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7D285A-D9DB-B9B0-5C8C-6721AE7C8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640" y="779918"/>
            <a:ext cx="745978" cy="7378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CC33C2-CF50-3D0A-7B14-017F0482A2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4843" y="2580016"/>
            <a:ext cx="730070" cy="7300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54C8E6-265B-3698-0116-C617755EB9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787719"/>
            <a:ext cx="730070" cy="7300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AA5D26A-5F48-4B09-A197-7A850C3EF5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22" y="1771598"/>
            <a:ext cx="4371778" cy="3986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33465C6-571A-877F-C293-BA50865C81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556" y="3603227"/>
            <a:ext cx="3048720" cy="1053269"/>
          </a:xfrm>
          <a:prstGeom prst="rect">
            <a:avLst/>
          </a:prstGeom>
        </p:spPr>
      </p:pic>
      <p:pic>
        <p:nvPicPr>
          <p:cNvPr id="20" name="Google Shape;255;p26">
            <a:extLst>
              <a:ext uri="{FF2B5EF4-FFF2-40B4-BE49-F238E27FC236}">
                <a16:creationId xmlns:a16="http://schemas.microsoft.com/office/drawing/2014/main" id="{C4A8B7D3-F875-7F81-C08D-87899CCF32D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l="3428" t="-2243" b="1"/>
          <a:stretch>
            <a:fillRect/>
          </a:stretch>
        </p:blipFill>
        <p:spPr>
          <a:xfrm>
            <a:off x="5133751" y="1000555"/>
            <a:ext cx="2633536" cy="1854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68;p27">
            <a:extLst>
              <a:ext uri="{FF2B5EF4-FFF2-40B4-BE49-F238E27FC236}">
                <a16:creationId xmlns:a16="http://schemas.microsoft.com/office/drawing/2014/main" id="{BC32B121-0772-34C8-187C-5538430373B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 l="-15" r="-1" b="-154"/>
          <a:stretch>
            <a:fillRect/>
          </a:stretch>
        </p:blipFill>
        <p:spPr>
          <a:xfrm>
            <a:off x="4086133" y="3356278"/>
            <a:ext cx="4263081" cy="17767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78462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6EBC0-EA41-911B-ED85-51593C7B9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DA7A-1940-3DC5-8B35-799E30A0B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81D11-536A-FB5A-EA96-B50EFE6CFD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D7724B-EA0C-E4B2-2C68-7969A0722C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31" b="57478"/>
          <a:stretch/>
        </p:blipFill>
        <p:spPr>
          <a:xfrm flipH="1">
            <a:off x="6353659" y="1693380"/>
            <a:ext cx="1114535" cy="727275"/>
          </a:xfrm>
          <a:prstGeom prst="rect">
            <a:avLst/>
          </a:prstGeom>
        </p:spPr>
      </p:pic>
      <p:pic>
        <p:nvPicPr>
          <p:cNvPr id="10" name="Google Shape;555;p60">
            <a:extLst>
              <a:ext uri="{FF2B5EF4-FFF2-40B4-BE49-F238E27FC236}">
                <a16:creationId xmlns:a16="http://schemas.microsoft.com/office/drawing/2014/main" id="{481ED361-DBB9-6295-E1AC-02ADDCB2F1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3238" t="9423" r="23216" b="7623"/>
          <a:stretch/>
        </p:blipFill>
        <p:spPr>
          <a:xfrm>
            <a:off x="405121" y="2917744"/>
            <a:ext cx="300255" cy="244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556;p60">
            <a:extLst>
              <a:ext uri="{FF2B5EF4-FFF2-40B4-BE49-F238E27FC236}">
                <a16:creationId xmlns:a16="http://schemas.microsoft.com/office/drawing/2014/main" id="{C84A3A32-1FDC-8179-AC58-22633F69BD70}"/>
              </a:ext>
            </a:extLst>
          </p:cNvPr>
          <p:cNvSpPr txBox="1"/>
          <p:nvPr/>
        </p:nvSpPr>
        <p:spPr>
          <a:xfrm>
            <a:off x="898648" y="2828344"/>
            <a:ext cx="22548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sng" strike="noStrike" cap="none" dirty="0">
                <a:solidFill>
                  <a:srgbClr val="0097A7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lheagy@eoas.ubc.ca</a:t>
            </a:r>
            <a:endParaRPr sz="1800" b="0" i="0" u="none" strike="noStrike" cap="none" dirty="0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" name="Google Shape;557;p60">
            <a:extLst>
              <a:ext uri="{FF2B5EF4-FFF2-40B4-BE49-F238E27FC236}">
                <a16:creationId xmlns:a16="http://schemas.microsoft.com/office/drawing/2014/main" id="{DCAA3BAB-544B-DBD4-76D4-9093FC9C3214}"/>
              </a:ext>
            </a:extLst>
          </p:cNvPr>
          <p:cNvSpPr txBox="1"/>
          <p:nvPr/>
        </p:nvSpPr>
        <p:spPr>
          <a:xfrm>
            <a:off x="898661" y="2200257"/>
            <a:ext cx="17358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sng" strike="noStrike" cap="none">
                <a:solidFill>
                  <a:srgbClr val="0097A7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simpeg.xyz </a:t>
            </a:r>
            <a:endParaRPr sz="1800" b="0" i="0" u="none" strike="noStrike" cap="none">
              <a:solidFill>
                <a:srgbClr val="59595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3" name="Google Shape;558;p60">
            <a:extLst>
              <a:ext uri="{FF2B5EF4-FFF2-40B4-BE49-F238E27FC236}">
                <a16:creationId xmlns:a16="http://schemas.microsoft.com/office/drawing/2014/main" id="{9AEEE4CB-9C5A-5544-3156-97CFCF582CF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r="68389"/>
          <a:stretch/>
        </p:blipFill>
        <p:spPr>
          <a:xfrm>
            <a:off x="232885" y="2092232"/>
            <a:ext cx="548700" cy="62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572;p60">
            <a:extLst>
              <a:ext uri="{FF2B5EF4-FFF2-40B4-BE49-F238E27FC236}">
                <a16:creationId xmlns:a16="http://schemas.microsoft.com/office/drawing/2014/main" id="{C3D86AC8-60E7-4CD3-D664-3B3C57B9A59F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11201" y="1320900"/>
            <a:ext cx="5692535" cy="31936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57596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3AECB-C10A-CAF0-D707-0162B6164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7DC85-124F-E0D4-4FAA-FED76911B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F2B8E-DAFE-36A4-87F6-6A0D31ABCA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30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F83FBE-95E6-3996-2535-CA33DB0E7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681"/>
            <a:ext cx="9144000" cy="52168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F0737C-73E0-8CCB-B327-DA8EAD1EB0B2}"/>
              </a:ext>
            </a:extLst>
          </p:cNvPr>
          <p:cNvSpPr txBox="1"/>
          <p:nvPr/>
        </p:nvSpPr>
        <p:spPr>
          <a:xfrm>
            <a:off x="2286000" y="474097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https://</a:t>
            </a:r>
            <a:r>
              <a:rPr lang="en-US" sz="18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www.hohmannwannamakertrust.</a:t>
            </a:r>
            <a:r>
              <a:rPr lang="en-US" sz="1800" dirty="0" err="1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org</a:t>
            </a:r>
            <a:endParaRPr lang="en-US" sz="1800" dirty="0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132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AA6AC-E88B-C4B6-9F2C-9B4D874E1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 a related note…. refactor of inversion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70404-20C4-915E-CD7D-B6A8AF6D4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04075"/>
            <a:ext cx="8520600" cy="36648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A main goal of </a:t>
            </a:r>
            <a:r>
              <a:rPr lang="en-US" dirty="0" err="1"/>
              <a:t>SimPEG</a:t>
            </a:r>
            <a:r>
              <a:rPr lang="en-US" dirty="0"/>
              <a:t> is modularity and interoperability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… but some friction when </a:t>
            </a:r>
          </a:p>
          <a:p>
            <a:pPr lvl="1"/>
            <a:r>
              <a:rPr lang="en-US" sz="1800" dirty="0"/>
              <a:t>interfacing to other codes, </a:t>
            </a:r>
          </a:p>
          <a:p>
            <a:pPr lvl="1"/>
            <a:r>
              <a:rPr lang="en-US" sz="1800" dirty="0"/>
              <a:t>developing unconventional inversions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Solution: </a:t>
            </a:r>
            <a:r>
              <a:rPr lang="en-US" dirty="0"/>
              <a:t>working on a refactor to simplify user interface, enable interoperability &amp; extension.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 algn="ctr">
              <a:buNone/>
            </a:pPr>
            <a:r>
              <a:rPr lang="en-US" dirty="0"/>
              <a:t>Join the development and share your ideas! </a:t>
            </a:r>
          </a:p>
          <a:p>
            <a:pPr marL="114300" indent="0" algn="ctr">
              <a:buNone/>
            </a:pPr>
            <a:r>
              <a:rPr lang="en-US" dirty="0">
                <a:hlinkClick r:id="rId2"/>
              </a:rPr>
              <a:t>https://github.com/simpeg/inversion-design-ideas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020BA-9439-8A00-0071-26C6BF94B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99658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7684</TotalTime>
  <Words>1506</Words>
  <Application>Microsoft Macintosh PowerPoint</Application>
  <PresentationFormat>On-screen Show (16:9)</PresentationFormat>
  <Paragraphs>270</Paragraphs>
  <Slides>31</Slides>
  <Notes>7</Notes>
  <HiddenSlides>1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Avenir</vt:lpstr>
      <vt:lpstr>Consolas</vt:lpstr>
      <vt:lpstr>Helvetica Neue Light</vt:lpstr>
      <vt:lpstr>Helvetica Neue Light</vt:lpstr>
      <vt:lpstr>Wingdings</vt:lpstr>
      <vt:lpstr>Helvetica Light</vt:lpstr>
      <vt:lpstr>Arial</vt:lpstr>
      <vt:lpstr>Simple Light</vt:lpstr>
      <vt:lpstr>3D hybrid-parametric inversion of AEM data accelerated by tiling</vt:lpstr>
      <vt:lpstr>why 3D? </vt:lpstr>
      <vt:lpstr>why 3D? </vt:lpstr>
      <vt:lpstr>why 3D? </vt:lpstr>
      <vt:lpstr>challenges with 3D </vt:lpstr>
      <vt:lpstr>challenges with 3D </vt:lpstr>
      <vt:lpstr>challenges with 3D </vt:lpstr>
      <vt:lpstr>challenges with 3D </vt:lpstr>
      <vt:lpstr>challenges with 3D </vt:lpstr>
      <vt:lpstr>challenges with 3D </vt:lpstr>
      <vt:lpstr>challenges with 3D </vt:lpstr>
      <vt:lpstr>challenges with 3D </vt:lpstr>
      <vt:lpstr>challenges with 3D </vt:lpstr>
      <vt:lpstr>implementation </vt:lpstr>
      <vt:lpstr>mappings </vt:lpstr>
      <vt:lpstr>mappings </vt:lpstr>
      <vt:lpstr>mappings </vt:lpstr>
      <vt:lpstr>mappings </vt:lpstr>
      <vt:lpstr>mappings </vt:lpstr>
      <vt:lpstr>meta-simulations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computational savings</vt:lpstr>
      <vt:lpstr>meta-simulations more broadly</vt:lpstr>
      <vt:lpstr>modular. can be combined with other advanced inversions</vt:lpstr>
      <vt:lpstr>thank you!</vt:lpstr>
      <vt:lpstr>PowerPoint Presentation</vt:lpstr>
      <vt:lpstr>on a related note…. refactor of inversion framework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Impacts of magnetic permeability on electromagnetic data collected in settings with steel-cased wells</dc:title>
  <cp:lastModifiedBy>Lindsey Heagy</cp:lastModifiedBy>
  <cp:revision>31</cp:revision>
  <cp:lastPrinted>2026-07-30T02:52:52Z</cp:lastPrinted>
  <dcterms:modified xsi:type="dcterms:W3CDTF">2026-09-08T07:39:08Z</dcterms:modified>
</cp:coreProperties>
</file>